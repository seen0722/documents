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Roboto Medium"/>
      <p:regular r:id="rId24"/>
      <p:bold r:id="rId25"/>
      <p:italic r:id="rId26"/>
      <p:boldItalic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Poppins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obotoMedium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edium-italic.fntdata"/><Relationship Id="rId25" Type="http://schemas.openxmlformats.org/officeDocument/2006/relationships/font" Target="fonts/RobotoMedium-bold.fntdata"/><Relationship Id="rId28" Type="http://schemas.openxmlformats.org/officeDocument/2006/relationships/font" Target="fonts/Poppins-regular.fntdata"/><Relationship Id="rId27" Type="http://schemas.openxmlformats.org/officeDocument/2006/relationships/font" Target="fonts/Roboto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PoppinsMedium-bold.fntdata"/><Relationship Id="rId10" Type="http://schemas.openxmlformats.org/officeDocument/2006/relationships/slide" Target="slides/slide5.xml"/><Relationship Id="rId32" Type="http://schemas.openxmlformats.org/officeDocument/2006/relationships/font" Target="fonts/PoppinsMedium-regular.fntdata"/><Relationship Id="rId13" Type="http://schemas.openxmlformats.org/officeDocument/2006/relationships/slide" Target="slides/slide8.xml"/><Relationship Id="rId35" Type="http://schemas.openxmlformats.org/officeDocument/2006/relationships/font" Target="fonts/Poppins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200513" y="4709368"/>
            <a:ext cx="7790973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Test Result Analysis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2386012" y="5692229"/>
            <a:ext cx="7419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Automated Clustering &amp; Root Cause Identification for CTS &amp; GTS Failures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143500" y="-381000"/>
            <a:ext cx="3810000" cy="2758529"/>
          </a:xfrm>
          <a:prstGeom prst="roundRect">
            <a:avLst>
              <a:gd fmla="val 17264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248400" y="4282529"/>
            <a:ext cx="1905000" cy="1379339"/>
          </a:xfrm>
          <a:prstGeom prst="roundRect">
            <a:avLst>
              <a:gd fmla="val 34527" name="adj"/>
            </a:avLst>
          </a:prstGeom>
          <a:solidFill>
            <a:srgbClr val="FBBC0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1333500" y="2581572"/>
            <a:ext cx="1143000" cy="7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333500" y="2657772"/>
            <a:ext cx="5230653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Example 1: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 CTS Analysis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333500" y="5362872"/>
            <a:ext cx="3886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Media, Audio, and Permission Failures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2695575" y="95250"/>
            <a:ext cx="2381250" cy="1680864"/>
          </a:xfrm>
          <a:prstGeom prst="roundRect">
            <a:avLst>
              <a:gd fmla="val 28333" name="adj"/>
            </a:avLst>
          </a:prstGeom>
          <a:solidFill>
            <a:srgbClr val="34A8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2192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857250" y="12192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CtsMediaTestCases: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MediaCodec.configure IllegalStateException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57250" y="19431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CtsMediaTestCases: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MediaCodec.start IllegalStateException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57250" y="26670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CtsAudioTestCases: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AudioManager.setStreamVolume NPE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57250" y="3390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CtsAudioTestCases: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AudioManager.getStreamVolume NPE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57250" y="41148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CtsCameraTestCases: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Camera.open SecurityException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4533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CtsCameraTestCases: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Camera.takePicture SecurityException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57250" y="52578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CtsPermissionTestCases: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Permission denied SecurityException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57250" y="59817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CtsPermissionTestCases: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Missing permission SecurityException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122872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11715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18954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26193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33432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40671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44862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52101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59340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1524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Input: 8 Failed Tests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Clustering Result: 4 Clusters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533400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38300"/>
            <a:ext cx="533400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650" y="2019300"/>
            <a:ext cx="1047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1009650" y="2343150"/>
            <a:ext cx="47405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21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 0: Media Codec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1009650" y="29337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Root Cause: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MediaCodec instances not initialized before use.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1009650" y="3733800"/>
            <a:ext cx="45148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Add MediaCodec.reset() before configure() calls.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009650" y="4552950"/>
            <a:ext cx="4514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4043"/>
                </a:solidFill>
                <a:latin typeface="Roboto Medium"/>
                <a:ea typeface="Roboto Medium"/>
                <a:cs typeface="Roboto Medium"/>
                <a:sym typeface="Roboto Medium"/>
              </a:rPr>
              <a:t>Assignment: Media Team</a:t>
            </a:r>
            <a:endParaRPr/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2019300"/>
            <a:ext cx="12573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6724650" y="2343150"/>
            <a:ext cx="47405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21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 1: Audio Issues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724650" y="29337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Root Cause: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AudioManager service not properly initialized or null context.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724650" y="37338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Ensure valid Context is used to obtain instance.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24650" y="4533900"/>
            <a:ext cx="4514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4043"/>
                </a:solidFill>
                <a:latin typeface="Roboto Medium"/>
                <a:ea typeface="Roboto Medium"/>
                <a:cs typeface="Roboto Medium"/>
                <a:sym typeface="Roboto Medium"/>
              </a:rPr>
              <a:t>Assignment: Audio Team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Deep Dive: Media &amp; Audio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533400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38300"/>
            <a:ext cx="533400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650" y="2019300"/>
            <a:ext cx="12573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1009650" y="2343150"/>
            <a:ext cx="47405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21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 2: Camera Permissions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1009650" y="29337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Root Cause: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Camera permission not declared in manifest.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1009650" y="3733800"/>
            <a:ext cx="45148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Add 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1009650" y="4238625"/>
            <a:ext cx="4514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4043"/>
                </a:solidFill>
                <a:latin typeface="Roboto Medium"/>
                <a:ea typeface="Roboto Medium"/>
                <a:cs typeface="Roboto Medium"/>
                <a:sym typeface="Roboto Medium"/>
              </a:rPr>
              <a:t>Assignment: Camera Team</a:t>
            </a:r>
            <a:endParaRPr/>
          </a:p>
        </p:txBody>
      </p:sp>
      <p:pic>
        <p:nvPicPr>
          <p:cNvPr descr="image.png" id="153" name="Google Shape;15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2019300"/>
            <a:ext cx="1047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6724650" y="2343150"/>
            <a:ext cx="47405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21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 3: General Security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724650" y="29337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Root Cause: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Required permissions not granted to test package.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724650" y="3733800"/>
            <a:ext cx="45148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Verify AndroidManifest.xml tags.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724650" y="4238625"/>
            <a:ext cx="4514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4043"/>
                </a:solidFill>
                <a:latin typeface="Roboto Medium"/>
                <a:ea typeface="Roboto Medium"/>
                <a:cs typeface="Roboto Medium"/>
                <a:sym typeface="Roboto Medium"/>
              </a:rPr>
              <a:t>Assignment: Security Team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009650" y="4838700"/>
            <a:ext cx="4514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Tests:</a:t>
            </a:r>
            <a:r>
              <a:rPr b="0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CtsCameraTestCases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009650" y="5090070"/>
            <a:ext cx="4514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- Camera.open SecurityException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009650" y="5341441"/>
            <a:ext cx="4514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- Camera.takePicture SecurityException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724650" y="4838700"/>
            <a:ext cx="4514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Tests:</a:t>
            </a:r>
            <a:r>
              <a:rPr b="0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CtsPermissionTestCases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724650" y="5090070"/>
            <a:ext cx="4514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- Permission denied SecurityException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724650" y="5341441"/>
            <a:ext cx="45148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- Missing permission SecurityException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Deep Dive: Camera &amp; Security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2795587" y="5095875"/>
            <a:ext cx="6600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The LLM analysis returned maximum confidence scores for all 4 CTS clusters.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Confidence Scores (CTS)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1333500" y="2693640"/>
            <a:ext cx="1143000" cy="76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333500" y="2769840"/>
            <a:ext cx="524065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Example 3: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 GTS Analysis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1333500" y="5474940"/>
            <a:ext cx="4543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Configuration and Permission Policy Failures</a:t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4191000" y="1047750"/>
            <a:ext cx="2857500" cy="1905000"/>
          </a:xfrm>
          <a:prstGeom prst="roundRect">
            <a:avLst>
              <a:gd fmla="val 25000" name="adj"/>
            </a:avLst>
          </a:pr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5275" y="1638300"/>
            <a:ext cx="3705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857250" y="1638300"/>
            <a:ext cx="64865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GtsPermissionTestCases: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PreloadAppsTargetSdkVersionTest.testPreloadedAppsTargetSdkVersion (x2)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857250" y="2667000"/>
            <a:ext cx="64865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GtsPermissionUiTestCases: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PermissionHistoryTest.permissionTimelineShowsMicUsage (x2)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857250" y="3390900"/>
            <a:ext cx="64865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GtsPermissionTestCases: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DefaultPermissionGrantPolicyTest.testDefaultGrantsWithRemoteExceptions (x2)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857250" y="4419600"/>
            <a:ext cx="64865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GtsPermissionTestCases: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DefaultPermissionGrantPolicyTest.testPreGrantsWithRemoteExceptions (x2)</a:t>
            </a:r>
            <a:endParaRPr/>
          </a:p>
        </p:txBody>
      </p:sp>
      <p:pic>
        <p:nvPicPr>
          <p:cNvPr descr="image.png" id="189" name="Google Shape;1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1647825"/>
            <a:ext cx="3686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71500" y="15906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26193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33432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571500" y="4371975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Input: 8 Failed GTS Tests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Clustering Result: 2 Clusters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533400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38300"/>
            <a:ext cx="5334000" cy="4648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650" y="2019300"/>
            <a:ext cx="1047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1009650" y="2343150"/>
            <a:ext cx="47405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21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 0: Configuration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1009650" y="29337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Root Cause: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'com.android.inputmethod.latin' targets SDK &lt; 33, violating Android 14 policy.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1009650" y="3733800"/>
            <a:ext cx="4514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Update build.gradle targetSdkVersion to 33+.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1009650" y="4543425"/>
            <a:ext cx="4514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4043"/>
                </a:solidFill>
                <a:latin typeface="Roboto Medium"/>
                <a:ea typeface="Roboto Medium"/>
                <a:cs typeface="Roboto Medium"/>
                <a:sym typeface="Roboto Medium"/>
              </a:rPr>
              <a:t>Assignment: Permission Team</a:t>
            </a:r>
            <a:endParaRPr/>
          </a:p>
        </p:txBody>
      </p:sp>
      <p:pic>
        <p:nvPicPr>
          <p:cNvPr descr="image.png" id="212" name="Google Shape;21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2019300"/>
            <a:ext cx="12573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6724650" y="2343150"/>
            <a:ext cx="47405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212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Cluster 1: Permissions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6724650" y="2933700"/>
            <a:ext cx="4514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Root Cause: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Bluetooth package missing default permissions (POST_NOTIFICATIONS, ACCESS_FINE_LOCATION).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6724650" y="4038600"/>
            <a:ext cx="4514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Solution:</a:t>
            </a: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 Review permission grant policies in manifest.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6724650" y="4838700"/>
            <a:ext cx="4514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4043"/>
                </a:solidFill>
                <a:latin typeface="Roboto Medium"/>
                <a:ea typeface="Roboto Medium"/>
                <a:cs typeface="Roboto Medium"/>
                <a:sym typeface="Roboto Medium"/>
              </a:rPr>
              <a:t>Assignment: Permission Team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Deep Dive: Config &amp; Permissions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 txBox="1"/>
          <p:nvPr/>
        </p:nvSpPr>
        <p:spPr>
          <a:xfrm>
            <a:off x="2781300" y="4381500"/>
            <a:ext cx="6629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Confidence remains high, with slight variance in the permission issue analysis.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Confidence Scores (GTS)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/>
        </p:nvSpPr>
        <p:spPr>
          <a:xfrm>
            <a:off x="5168384" y="4358729"/>
            <a:ext cx="185523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Q&amp;A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4010025" y="5692229"/>
            <a:ext cx="4171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Thank you for reviewing the test analysis.</a:t>
            </a:r>
            <a:endParaRPr/>
          </a:p>
        </p:txBody>
      </p:sp>
      <p:sp>
        <p:nvSpPr>
          <p:cNvPr id="231" name="Google Shape;231;p25"/>
          <p:cNvSpPr/>
          <p:nvPr/>
        </p:nvSpPr>
        <p:spPr>
          <a:xfrm>
            <a:off x="5143500" y="-381000"/>
            <a:ext cx="3810000" cy="2164109"/>
          </a:xfrm>
          <a:prstGeom prst="roundRect">
            <a:avLst>
              <a:gd fmla="val 22006" name="adj"/>
            </a:avLst>
          </a:prstGeom>
          <a:solidFill>
            <a:srgbClr val="428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4191000" y="3211859"/>
            <a:ext cx="2857500" cy="1623119"/>
          </a:xfrm>
          <a:prstGeom prst="roundRect">
            <a:avLst>
              <a:gd fmla="val 29341" name="adj"/>
            </a:avLst>
          </a:prstGeom>
          <a:solidFill>
            <a:srgbClr val="EA4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/>
        </p:nvSpPr>
        <p:spPr>
          <a:xfrm>
            <a:off x="3414712" y="3527077"/>
            <a:ext cx="104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4285F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pic>
        <p:nvPicPr>
          <p:cNvPr descr="image.png" id="238" name="Google Shape;2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4712" y="37241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 txBox="1"/>
          <p:nvPr/>
        </p:nvSpPr>
        <p:spPr>
          <a:xfrm>
            <a:off x="4510087" y="3717577"/>
            <a:ext cx="42672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https://miro.medium.com/v2/resize:fit:2000/1*mXIcH44FAZKCRjX5g_lYmw.png</a:t>
            </a:r>
            <a:endParaRPr/>
          </a:p>
        </p:txBody>
      </p:sp>
      <p:sp>
        <p:nvSpPr>
          <p:cNvPr id="240" name="Google Shape;240;p26"/>
          <p:cNvSpPr txBox="1"/>
          <p:nvPr/>
        </p:nvSpPr>
        <p:spPr>
          <a:xfrm>
            <a:off x="4510087" y="3963292"/>
            <a:ext cx="42672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medium.com</a:t>
            </a:r>
            <a:endParaRPr/>
          </a:p>
        </p:txBody>
      </p:sp>
      <p:sp>
        <p:nvSpPr>
          <p:cNvPr id="241" name="Google Shape;241;p26"/>
          <p:cNvSpPr txBox="1"/>
          <p:nvPr/>
        </p:nvSpPr>
        <p:spPr>
          <a:xfrm>
            <a:off x="571500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