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Roboto"/>
      <p:regular r:id="rId19"/>
      <p:bold r:id="rId20"/>
      <p:italic r:id="rId21"/>
      <p:boldItalic r:id="rId22"/>
    </p:embeddedFont>
    <p:embeddedFont>
      <p:font typeface="Roboto Medium"/>
      <p:regular r:id="rId23"/>
      <p:bold r:id="rId24"/>
      <p:italic r:id="rId25"/>
      <p:boldItalic r:id="rId26"/>
    </p:embeddedFont>
    <p:embeddedFont>
      <p:font typeface="Poppins"/>
      <p:regular r:id="rId27"/>
      <p:bold r:id="rId28"/>
      <p:italic r:id="rId29"/>
      <p:boldItalic r:id="rId30"/>
    </p:embeddedFont>
    <p:embeddedFont>
      <p:font typeface="Poppins Medium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D0B769D-97E5-4C29-A6A6-E765FB390C6E}">
  <a:tblStyle styleId="{4D0B769D-97E5-4C29-A6A6-E765FB390C6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.fntdata"/><Relationship Id="rId22" Type="http://schemas.openxmlformats.org/officeDocument/2006/relationships/font" Target="fonts/Roboto-boldItalic.fntdata"/><Relationship Id="rId21" Type="http://schemas.openxmlformats.org/officeDocument/2006/relationships/font" Target="fonts/Roboto-italic.fntdata"/><Relationship Id="rId24" Type="http://schemas.openxmlformats.org/officeDocument/2006/relationships/font" Target="fonts/RobotoMedium-bold.fntdata"/><Relationship Id="rId23" Type="http://schemas.openxmlformats.org/officeDocument/2006/relationships/font" Target="fonts/RobotoMedium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obotoMedium-boldItalic.fntdata"/><Relationship Id="rId25" Type="http://schemas.openxmlformats.org/officeDocument/2006/relationships/font" Target="fonts/RobotoMedium-italic.fntdata"/><Relationship Id="rId28" Type="http://schemas.openxmlformats.org/officeDocument/2006/relationships/font" Target="fonts/Poppins-bold.fntdata"/><Relationship Id="rId27" Type="http://schemas.openxmlformats.org/officeDocument/2006/relationships/font" Target="fonts/Poppins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oppins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oppinsMedium-regular.fntdata"/><Relationship Id="rId30" Type="http://schemas.openxmlformats.org/officeDocument/2006/relationships/font" Target="fonts/Poppins-boldItalic.fntdata"/><Relationship Id="rId11" Type="http://schemas.openxmlformats.org/officeDocument/2006/relationships/slide" Target="slides/slide5.xml"/><Relationship Id="rId33" Type="http://schemas.openxmlformats.org/officeDocument/2006/relationships/font" Target="fonts/PoppinsMedium-italic.fntdata"/><Relationship Id="rId10" Type="http://schemas.openxmlformats.org/officeDocument/2006/relationships/slide" Target="slides/slide4.xml"/><Relationship Id="rId32" Type="http://schemas.openxmlformats.org/officeDocument/2006/relationships/font" Target="fonts/PoppinsMedium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schemas.openxmlformats.org/officeDocument/2006/relationships/font" Target="fonts/PoppinsMedium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Roboto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2.png"/><Relationship Id="rId6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8.png"/><Relationship Id="rId6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2200513" y="4709368"/>
            <a:ext cx="7790973" cy="75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202124"/>
                </a:solidFill>
                <a:latin typeface="Poppins"/>
                <a:ea typeface="Poppins"/>
                <a:cs typeface="Poppins"/>
                <a:sym typeface="Poppins"/>
              </a:rPr>
              <a:t>Test Result Analysis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2386012" y="5692229"/>
            <a:ext cx="741997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rPr>
              <a:t>Automated Clustering &amp; Root Cause Identification for CTS &amp; GTS Failures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/>
          <p:nvPr/>
        </p:nvSpPr>
        <p:spPr>
          <a:xfrm>
            <a:off x="1333500" y="2581572"/>
            <a:ext cx="1143000" cy="762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4"/>
          <p:cNvSpPr txBox="1"/>
          <p:nvPr/>
        </p:nvSpPr>
        <p:spPr>
          <a:xfrm>
            <a:off x="1333500" y="2657772"/>
            <a:ext cx="5230653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202124"/>
                </a:solidFill>
                <a:latin typeface="Poppins"/>
                <a:ea typeface="Poppins"/>
                <a:cs typeface="Poppins"/>
                <a:sym typeface="Poppins"/>
              </a:rPr>
              <a:t>Example 1: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6000" u="none" cap="none" strike="noStrike">
                <a:solidFill>
                  <a:srgbClr val="202124"/>
                </a:solidFill>
                <a:latin typeface="Poppins"/>
                <a:ea typeface="Poppins"/>
                <a:cs typeface="Poppins"/>
                <a:sym typeface="Poppins"/>
              </a:rPr>
              <a:t> CTS Analysis</a:t>
            </a:r>
            <a:endParaRPr/>
          </a:p>
        </p:txBody>
      </p:sp>
      <p:sp>
        <p:nvSpPr>
          <p:cNvPr id="92" name="Google Shape;92;p14"/>
          <p:cNvSpPr txBox="1"/>
          <p:nvPr/>
        </p:nvSpPr>
        <p:spPr>
          <a:xfrm>
            <a:off x="1333500" y="5362872"/>
            <a:ext cx="38862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rPr>
              <a:t>Media, Audio, and Permission Failures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7" name="Google Shape;9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1219200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5"/>
          <p:cNvSpPr txBox="1"/>
          <p:nvPr/>
        </p:nvSpPr>
        <p:spPr>
          <a:xfrm>
            <a:off x="857250" y="121920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CtsMediaTestCases:</a:t>
            </a:r>
            <a:r>
              <a:rPr b="0" i="0" lang="en-US" sz="150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 MediaCodec.configure IllegalStateException</a:t>
            </a:r>
            <a:endParaRPr/>
          </a:p>
        </p:txBody>
      </p:sp>
      <p:sp>
        <p:nvSpPr>
          <p:cNvPr id="99" name="Google Shape;99;p15"/>
          <p:cNvSpPr txBox="1"/>
          <p:nvPr/>
        </p:nvSpPr>
        <p:spPr>
          <a:xfrm>
            <a:off x="857250" y="194310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CtsMediaTestCases:</a:t>
            </a:r>
            <a:r>
              <a:rPr b="0" i="0" lang="en-US" sz="150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 MediaCodec.start IllegalStateException</a:t>
            </a:r>
            <a:endParaRPr/>
          </a:p>
        </p:txBody>
      </p:sp>
      <p:sp>
        <p:nvSpPr>
          <p:cNvPr id="100" name="Google Shape;100;p15"/>
          <p:cNvSpPr txBox="1"/>
          <p:nvPr/>
        </p:nvSpPr>
        <p:spPr>
          <a:xfrm>
            <a:off x="857250" y="266700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CtsAudioTestCases:</a:t>
            </a:r>
            <a:r>
              <a:rPr b="0" i="0" lang="en-US" sz="150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 AudioManager.setStreamVolume NPE</a:t>
            </a:r>
            <a:endParaRPr/>
          </a:p>
        </p:txBody>
      </p:sp>
      <p:sp>
        <p:nvSpPr>
          <p:cNvPr id="101" name="Google Shape;101;p15"/>
          <p:cNvSpPr txBox="1"/>
          <p:nvPr/>
        </p:nvSpPr>
        <p:spPr>
          <a:xfrm>
            <a:off x="857250" y="339090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CtsAudioTestCases:</a:t>
            </a:r>
            <a:r>
              <a:rPr b="0" i="0" lang="en-US" sz="150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 AudioManager.getStreamVolume NPE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857250" y="411480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CtsCameraTestCases:</a:t>
            </a:r>
            <a:r>
              <a:rPr b="0" i="0" lang="en-US" sz="150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 Camera.open SecurityException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857250" y="453390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CtsCameraTestCases:</a:t>
            </a:r>
            <a:r>
              <a:rPr b="0" i="0" lang="en-US" sz="150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 Camera.takePicture SecurityException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857250" y="525780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CtsPermissionTestCases:</a:t>
            </a:r>
            <a:r>
              <a:rPr b="0" i="0" lang="en-US" sz="150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 Permission denied SecurityException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857250" y="598170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CtsPermissionTestCases:</a:t>
            </a:r>
            <a:r>
              <a:rPr b="0" i="0" lang="en-US" sz="150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 Missing permission SecurityException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571500" y="1171575"/>
            <a:ext cx="1047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4285F4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571500" y="1895475"/>
            <a:ext cx="1047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4285F4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571500" y="2619375"/>
            <a:ext cx="1047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4285F4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571500" y="3343275"/>
            <a:ext cx="1047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4285F4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571500" y="4067175"/>
            <a:ext cx="1047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4285F4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571500" y="4486275"/>
            <a:ext cx="1047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4285F4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571500" y="5210175"/>
            <a:ext cx="1047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4285F4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571500" y="5934075"/>
            <a:ext cx="1047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4285F4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571500" y="152400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5F636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Input: 8 Failed Tests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9" name="Google Shape;11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638300"/>
            <a:ext cx="11049000" cy="464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/>
          <p:nvPr/>
        </p:nvSpPr>
        <p:spPr>
          <a:xfrm>
            <a:off x="571500" y="571500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5F636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Clustering Result: 4 Clusters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5" name="Google Shape;12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638300"/>
            <a:ext cx="5334000" cy="4648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638300"/>
            <a:ext cx="5334000" cy="4648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9650" y="2019300"/>
            <a:ext cx="1047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7"/>
          <p:cNvSpPr txBox="1"/>
          <p:nvPr/>
        </p:nvSpPr>
        <p:spPr>
          <a:xfrm>
            <a:off x="1009650" y="2343150"/>
            <a:ext cx="474059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0212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Cluster 0: Media Codec</a:t>
            </a:r>
            <a:endParaRPr/>
          </a:p>
        </p:txBody>
      </p:sp>
      <p:sp>
        <p:nvSpPr>
          <p:cNvPr id="129" name="Google Shape;129;p17"/>
          <p:cNvSpPr txBox="1"/>
          <p:nvPr/>
        </p:nvSpPr>
        <p:spPr>
          <a:xfrm>
            <a:off x="1009650" y="2933700"/>
            <a:ext cx="4514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Root Cause:</a:t>
            </a:r>
            <a:r>
              <a:rPr b="0" i="0" lang="en-US" sz="150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 MediaCodec instances not initialized before use.</a:t>
            </a:r>
            <a:endParaRPr/>
          </a:p>
        </p:txBody>
      </p:sp>
      <p:sp>
        <p:nvSpPr>
          <p:cNvPr id="130" name="Google Shape;130;p17"/>
          <p:cNvSpPr txBox="1"/>
          <p:nvPr/>
        </p:nvSpPr>
        <p:spPr>
          <a:xfrm>
            <a:off x="1009650" y="3733800"/>
            <a:ext cx="45148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Solution:</a:t>
            </a:r>
            <a:r>
              <a:rPr b="0" i="0" lang="en-US" sz="150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 Add MediaCodec.reset() before configure() calls.</a:t>
            </a:r>
            <a:endParaRPr/>
          </a:p>
        </p:txBody>
      </p:sp>
      <p:sp>
        <p:nvSpPr>
          <p:cNvPr id="131" name="Google Shape;131;p17"/>
          <p:cNvSpPr txBox="1"/>
          <p:nvPr/>
        </p:nvSpPr>
        <p:spPr>
          <a:xfrm>
            <a:off x="1009650" y="4552950"/>
            <a:ext cx="45148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C4043"/>
                </a:solidFill>
                <a:latin typeface="Roboto Medium"/>
                <a:ea typeface="Roboto Medium"/>
                <a:cs typeface="Roboto Medium"/>
                <a:sym typeface="Roboto Medium"/>
              </a:rPr>
              <a:t>Assignment: Media Team</a:t>
            </a:r>
            <a:endParaRPr/>
          </a:p>
        </p:txBody>
      </p:sp>
      <p:pic>
        <p:nvPicPr>
          <p:cNvPr descr="image.png" id="132" name="Google Shape;132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24650" y="2019300"/>
            <a:ext cx="12573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7"/>
          <p:cNvSpPr txBox="1"/>
          <p:nvPr/>
        </p:nvSpPr>
        <p:spPr>
          <a:xfrm>
            <a:off x="6724650" y="2343150"/>
            <a:ext cx="474059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0212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Cluster 1: Audio Issues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6724650" y="2933700"/>
            <a:ext cx="4514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Root Cause:</a:t>
            </a:r>
            <a:r>
              <a:rPr b="0" i="0" lang="en-US" sz="150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 AudioManager service not properly initialized or null context.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6724650" y="3733800"/>
            <a:ext cx="4514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Solution:</a:t>
            </a:r>
            <a:r>
              <a:rPr b="0" i="0" lang="en-US" sz="150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 Ensure valid Context is used to obtain instance.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6724650" y="4533900"/>
            <a:ext cx="45148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C4043"/>
                </a:solidFill>
                <a:latin typeface="Roboto Medium"/>
                <a:ea typeface="Roboto Medium"/>
                <a:cs typeface="Roboto Medium"/>
                <a:sym typeface="Roboto Medium"/>
              </a:rPr>
              <a:t>Assignment: Audio Team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571500" y="571500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5F636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Deep Dive: Media &amp; Audio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2" name="Google Shape;14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638300"/>
            <a:ext cx="5334000" cy="4648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638300"/>
            <a:ext cx="5334000" cy="4648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9650" y="2019300"/>
            <a:ext cx="12573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/>
        </p:nvSpPr>
        <p:spPr>
          <a:xfrm>
            <a:off x="1009650" y="2343150"/>
            <a:ext cx="474059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0212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Cluster 2: Camera Permissions</a:t>
            </a:r>
            <a:endParaRPr/>
          </a:p>
        </p:txBody>
      </p:sp>
      <p:sp>
        <p:nvSpPr>
          <p:cNvPr id="146" name="Google Shape;146;p18"/>
          <p:cNvSpPr txBox="1"/>
          <p:nvPr/>
        </p:nvSpPr>
        <p:spPr>
          <a:xfrm>
            <a:off x="1009650" y="2933700"/>
            <a:ext cx="4514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Root Cause:</a:t>
            </a:r>
            <a:r>
              <a:rPr b="0" i="0" lang="en-US" sz="150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 Camera permission not declared in manifest.</a:t>
            </a:r>
            <a:endParaRPr/>
          </a:p>
        </p:txBody>
      </p:sp>
      <p:sp>
        <p:nvSpPr>
          <p:cNvPr id="147" name="Google Shape;147;p18"/>
          <p:cNvSpPr txBox="1"/>
          <p:nvPr/>
        </p:nvSpPr>
        <p:spPr>
          <a:xfrm>
            <a:off x="1009650" y="3733800"/>
            <a:ext cx="45148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Solution:</a:t>
            </a:r>
            <a:r>
              <a:rPr b="0" i="0" lang="en-US" sz="150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 Add .</a:t>
            </a:r>
            <a:endParaRPr/>
          </a:p>
        </p:txBody>
      </p:sp>
      <p:sp>
        <p:nvSpPr>
          <p:cNvPr id="148" name="Google Shape;148;p18"/>
          <p:cNvSpPr txBox="1"/>
          <p:nvPr/>
        </p:nvSpPr>
        <p:spPr>
          <a:xfrm>
            <a:off x="1009650" y="4238625"/>
            <a:ext cx="45148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C4043"/>
                </a:solidFill>
                <a:latin typeface="Roboto Medium"/>
                <a:ea typeface="Roboto Medium"/>
                <a:cs typeface="Roboto Medium"/>
                <a:sym typeface="Roboto Medium"/>
              </a:rPr>
              <a:t>Assignment: Camera Team</a:t>
            </a:r>
            <a:endParaRPr/>
          </a:p>
        </p:txBody>
      </p:sp>
      <p:pic>
        <p:nvPicPr>
          <p:cNvPr descr="image.png" id="149" name="Google Shape;149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24650" y="2019300"/>
            <a:ext cx="1047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8"/>
          <p:cNvSpPr txBox="1"/>
          <p:nvPr/>
        </p:nvSpPr>
        <p:spPr>
          <a:xfrm>
            <a:off x="6724650" y="2343150"/>
            <a:ext cx="474059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0212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Cluster 3: General Security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6724650" y="2933700"/>
            <a:ext cx="4514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Root Cause:</a:t>
            </a:r>
            <a:r>
              <a:rPr b="0" i="0" lang="en-US" sz="150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 Required permissions not granted to test package.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6724650" y="3733800"/>
            <a:ext cx="45148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Solution:</a:t>
            </a:r>
            <a:r>
              <a:rPr b="0" i="0" lang="en-US" sz="150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 Verify AndroidManifest.xml tags.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6724650" y="4238625"/>
            <a:ext cx="45148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C4043"/>
                </a:solidFill>
                <a:latin typeface="Roboto Medium"/>
                <a:ea typeface="Roboto Medium"/>
                <a:cs typeface="Roboto Medium"/>
                <a:sym typeface="Roboto Medium"/>
              </a:rPr>
              <a:t>Assignment: Security Team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1009650" y="4838700"/>
            <a:ext cx="45148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Tests:</a:t>
            </a:r>
            <a:r>
              <a:rPr b="0" i="0" lang="en-US" sz="105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 CtsCameraTestCases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1009650" y="5090070"/>
            <a:ext cx="45148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- Camera.open SecurityException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1009650" y="5341441"/>
            <a:ext cx="45148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- Camera.takePicture SecurityException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6724650" y="4838700"/>
            <a:ext cx="45148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Tests:</a:t>
            </a:r>
            <a:r>
              <a:rPr b="0" i="0" lang="en-US" sz="105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 CtsPermissionTestCases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6724650" y="5090070"/>
            <a:ext cx="45148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- Permission denied SecurityException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6724650" y="5341441"/>
            <a:ext cx="45148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- Missing permission SecurityException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571500" y="571500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5F636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Deep Dive: Camera &amp; Security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5" name="Google Shape;16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638300"/>
            <a:ext cx="11049000" cy="464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2795587" y="5095875"/>
            <a:ext cx="66008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The LLM analysis returned maximum confidence scores for all 4 CTS clusters.</a:t>
            </a: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571500" y="571500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5F636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Confidence Scores (CTS)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0"/>
          <p:cNvSpPr/>
          <p:nvPr/>
        </p:nvSpPr>
        <p:spPr>
          <a:xfrm>
            <a:off x="1333500" y="2693640"/>
            <a:ext cx="1143000" cy="762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1333500" y="2769840"/>
            <a:ext cx="52407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202124"/>
                </a:solidFill>
                <a:latin typeface="Poppins"/>
                <a:ea typeface="Poppins"/>
                <a:cs typeface="Poppins"/>
                <a:sym typeface="Poppins"/>
              </a:rPr>
              <a:t>Example </a:t>
            </a:r>
            <a:r>
              <a:rPr b="1" lang="en-US" sz="6000">
                <a:solidFill>
                  <a:srgbClr val="202124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r>
              <a:rPr b="1" i="0" lang="en-US" sz="6000" u="none" cap="none" strike="noStrike">
                <a:solidFill>
                  <a:srgbClr val="202124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6000" u="none" cap="none" strike="noStrike">
                <a:solidFill>
                  <a:srgbClr val="202124"/>
                </a:solidFill>
                <a:latin typeface="Poppins"/>
                <a:ea typeface="Poppins"/>
                <a:cs typeface="Poppins"/>
                <a:sym typeface="Poppins"/>
              </a:rPr>
              <a:t> GTS Analysis</a:t>
            </a:r>
            <a:endParaRPr/>
          </a:p>
        </p:txBody>
      </p:sp>
      <p:sp>
        <p:nvSpPr>
          <p:cNvPr id="174" name="Google Shape;174;p20"/>
          <p:cNvSpPr txBox="1"/>
          <p:nvPr/>
        </p:nvSpPr>
        <p:spPr>
          <a:xfrm>
            <a:off x="1333500" y="5474940"/>
            <a:ext cx="454342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rPr>
              <a:t>Configuration and Permission Policy Failures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9" name="Google Shape;179;p21"/>
          <p:cNvGraphicFramePr/>
          <p:nvPr/>
        </p:nvGraphicFramePr>
        <p:xfrm>
          <a:off x="3095625" y="290319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{4D0B769D-97E5-4C29-A6A6-E765FB390C6E}</a:tableStyleId>
              </a:tblPr>
              <a:tblGrid>
                <a:gridCol w="2352675"/>
                <a:gridCol w="3648075"/>
              </a:tblGrid>
              <a:tr h="529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20212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Module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20212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Test Case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3F4"/>
                    </a:solidFill>
                  </a:tcPr>
                </a:tc>
              </a:tr>
              <a:tr h="529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C40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GtsPermissionTestCases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C40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PreloadAppsTargetSdkVersionTest (x2)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9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C40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GtsPermissionUiTestCases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C40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PermissionHistoryTest.showsMicUsage (x2)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9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C40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GtsPermissionTestCases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C40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DefaultPermissionGrantPolicyTest (x4)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0" name="Google Shape;180;p21"/>
          <p:cNvSpPr/>
          <p:nvPr/>
        </p:nvSpPr>
        <p:spPr>
          <a:xfrm>
            <a:off x="3095625" y="3991867"/>
            <a:ext cx="2352675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1"/>
          <p:cNvSpPr/>
          <p:nvPr/>
        </p:nvSpPr>
        <p:spPr>
          <a:xfrm>
            <a:off x="5448300" y="3991867"/>
            <a:ext cx="3648075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1"/>
          <p:cNvSpPr/>
          <p:nvPr/>
        </p:nvSpPr>
        <p:spPr>
          <a:xfrm>
            <a:off x="3095625" y="4504283"/>
            <a:ext cx="2352675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1"/>
          <p:cNvSpPr/>
          <p:nvPr/>
        </p:nvSpPr>
        <p:spPr>
          <a:xfrm>
            <a:off x="5448300" y="4504283"/>
            <a:ext cx="3648075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1"/>
          <p:cNvSpPr txBox="1"/>
          <p:nvPr/>
        </p:nvSpPr>
        <p:spPr>
          <a:xfrm>
            <a:off x="571500" y="571500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5F636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Input: 8 Failed GTS Tests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9" name="Google Shape;18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762000"/>
            <a:ext cx="45720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2"/>
          <p:cNvSpPr txBox="1"/>
          <p:nvPr/>
        </p:nvSpPr>
        <p:spPr>
          <a:xfrm>
            <a:off x="762000" y="1085850"/>
            <a:ext cx="4800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02124"/>
                </a:solidFill>
                <a:latin typeface="Poppins"/>
                <a:ea typeface="Poppins"/>
                <a:cs typeface="Poppins"/>
                <a:sym typeface="Poppins"/>
              </a:rPr>
              <a:t>Cluster 0: Configuration Issue</a:t>
            </a:r>
            <a:endParaRPr/>
          </a:p>
        </p:txBody>
      </p:sp>
      <p:sp>
        <p:nvSpPr>
          <p:cNvPr id="191" name="Google Shape;191;p22"/>
          <p:cNvSpPr txBox="1"/>
          <p:nvPr/>
        </p:nvSpPr>
        <p:spPr>
          <a:xfrm>
            <a:off x="762000" y="2609850"/>
            <a:ext cx="40862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Issue:</a:t>
            </a:r>
            <a:r>
              <a:rPr b="0" i="0" lang="en-US" sz="150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 Preloaded app targets incorrect API level.</a:t>
            </a:r>
            <a:endParaRPr/>
          </a:p>
        </p:txBody>
      </p:sp>
      <p:sp>
        <p:nvSpPr>
          <p:cNvPr id="192" name="Google Shape;192;p22"/>
          <p:cNvSpPr txBox="1"/>
          <p:nvPr/>
        </p:nvSpPr>
        <p:spPr>
          <a:xfrm>
            <a:off x="762000" y="3295650"/>
            <a:ext cx="4572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Root Cause:</a:t>
            </a:r>
            <a:r>
              <a:rPr b="0" i="0" lang="en-US" sz="150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 'com.android.inputmethod.latin' targets SDK &lt; 33, violating Android 14 policy.</a:t>
            </a:r>
            <a:endParaRPr/>
          </a:p>
        </p:txBody>
      </p:sp>
      <p:sp>
        <p:nvSpPr>
          <p:cNvPr id="193" name="Google Shape;193;p22"/>
          <p:cNvSpPr txBox="1"/>
          <p:nvPr/>
        </p:nvSpPr>
        <p:spPr>
          <a:xfrm>
            <a:off x="762000" y="4286250"/>
            <a:ext cx="45720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Solution:</a:t>
            </a:r>
            <a:r>
              <a:rPr b="0" i="0" lang="en-US" sz="150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 Update build.gradle targetSdkVersion to 33+.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8" name="Google Shape;19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638300"/>
            <a:ext cx="12573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3"/>
          <p:cNvSpPr txBox="1"/>
          <p:nvPr/>
        </p:nvSpPr>
        <p:spPr>
          <a:xfrm>
            <a:off x="571500" y="1962150"/>
            <a:ext cx="550068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0212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Bluetooth Default Grants</a:t>
            </a:r>
            <a:endParaRPr/>
          </a:p>
        </p:txBody>
      </p:sp>
      <p:sp>
        <p:nvSpPr>
          <p:cNvPr id="200" name="Google Shape;200;p23"/>
          <p:cNvSpPr txBox="1"/>
          <p:nvPr/>
        </p:nvSpPr>
        <p:spPr>
          <a:xfrm>
            <a:off x="857250" y="2552700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Root Cause:</a:t>
            </a:r>
            <a:r>
              <a:rPr b="0" i="0" lang="en-US" sz="150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 Bluetooth package missing default permissions (POST_NOTIFICATIONS, ACCESS_FINE_LOCATION).</a:t>
            </a:r>
            <a:endParaRPr/>
          </a:p>
        </p:txBody>
      </p:sp>
      <p:sp>
        <p:nvSpPr>
          <p:cNvPr id="201" name="Google Shape;201;p23"/>
          <p:cNvSpPr txBox="1"/>
          <p:nvPr/>
        </p:nvSpPr>
        <p:spPr>
          <a:xfrm>
            <a:off x="857250" y="358140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Solution:</a:t>
            </a:r>
            <a:r>
              <a:rPr b="0" i="0" lang="en-US" sz="150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 Review permission grant policies and define strategies in manifest.</a:t>
            </a:r>
            <a:endParaRPr/>
          </a:p>
        </p:txBody>
      </p:sp>
      <p:sp>
        <p:nvSpPr>
          <p:cNvPr id="202" name="Google Shape;202;p23"/>
          <p:cNvSpPr txBox="1"/>
          <p:nvPr/>
        </p:nvSpPr>
        <p:spPr>
          <a:xfrm>
            <a:off x="857250" y="430530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Confidence:</a:t>
            </a:r>
            <a:r>
              <a:rPr b="0" i="0" lang="en-US" sz="150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 4/5</a:t>
            </a:r>
            <a:endParaRPr/>
          </a:p>
        </p:txBody>
      </p:sp>
      <p:sp>
        <p:nvSpPr>
          <p:cNvPr id="203" name="Google Shape;203;p23"/>
          <p:cNvSpPr txBox="1"/>
          <p:nvPr/>
        </p:nvSpPr>
        <p:spPr>
          <a:xfrm>
            <a:off x="571500" y="2505075"/>
            <a:ext cx="1047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4285F4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204" name="Google Shape;204;p23"/>
          <p:cNvSpPr txBox="1"/>
          <p:nvPr/>
        </p:nvSpPr>
        <p:spPr>
          <a:xfrm>
            <a:off x="571500" y="3533775"/>
            <a:ext cx="1047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4285F4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205" name="Google Shape;205;p23"/>
          <p:cNvSpPr txBox="1"/>
          <p:nvPr/>
        </p:nvSpPr>
        <p:spPr>
          <a:xfrm>
            <a:off x="571500" y="4257675"/>
            <a:ext cx="1047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4285F4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206" name="Google Shape;206;p23"/>
          <p:cNvSpPr txBox="1"/>
          <p:nvPr/>
        </p:nvSpPr>
        <p:spPr>
          <a:xfrm>
            <a:off x="571500" y="571500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5F636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Cluster 1: Permission Issue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1" name="Google Shape;21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638300"/>
            <a:ext cx="11049000" cy="4648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4"/>
          <p:cNvSpPr txBox="1"/>
          <p:nvPr/>
        </p:nvSpPr>
        <p:spPr>
          <a:xfrm>
            <a:off x="571500" y="571500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5F636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GTS Analysis Confidence Scores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