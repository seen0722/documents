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6"/>
  </p:notesMasterIdLst>
  <p:sldIdLst>
    <p:sldId id="256" r:id="rId5"/>
    <p:sldId id="267" r:id="rId6"/>
    <p:sldId id="277" r:id="rId7"/>
    <p:sldId id="260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5" r:id="rId22"/>
    <p:sldId id="296" r:id="rId23"/>
    <p:sldId id="294" r:id="rId24"/>
    <p:sldId id="276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BC2"/>
    <a:srgbClr val="01AB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95717" autoAdjust="0"/>
  </p:normalViewPr>
  <p:slideViewPr>
    <p:cSldViewPr snapToGrid="0">
      <p:cViewPr>
        <p:scale>
          <a:sx n="66" d="100"/>
          <a:sy n="66" d="100"/>
        </p:scale>
        <p:origin x="716" y="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49D05-6128-4D0D-A32A-06A5E73B386C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编辑母版文本样式</a:t>
            </a:r>
          </a:p>
          <a:p>
            <a:pPr lvl="1"/>
            <a:r>
              <a:rPr lang="zh-TW" altLang="en-US"/>
              <a:t>第二级</a:t>
            </a:r>
          </a:p>
          <a:p>
            <a:pPr lvl="2"/>
            <a:r>
              <a:rPr lang="zh-TW" altLang="en-US"/>
              <a:t>第三级</a:t>
            </a:r>
          </a:p>
          <a:p>
            <a:pPr lvl="3"/>
            <a:r>
              <a:rPr lang="zh-TW" altLang="en-US"/>
              <a:t>第四级</a:t>
            </a:r>
          </a:p>
          <a:p>
            <a:pPr lvl="4"/>
            <a:r>
              <a:rPr lang="zh-TW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9F42C-2DAE-424C-A4B8-3140182C3E9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TW" altLang="en-US" smtClean="0"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3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image" Target="../media/image4.jp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螢幕擷取畫面, 設計 的圖片&#10;&#10;自動產生的描述">
            <a:extLst>
              <a:ext uri="{FF2B5EF4-FFF2-40B4-BE49-F238E27FC236}">
                <a16:creationId xmlns:a16="http://schemas.microsoft.com/office/drawing/2014/main" id="{A5E70BEE-7F3B-C845-28E1-9452FCBDDD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0"/>
            <a:ext cx="12192000" cy="685723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759907" y="2001221"/>
            <a:ext cx="10516635" cy="1078230"/>
          </a:xfrm>
        </p:spPr>
        <p:txBody>
          <a:bodyPr/>
          <a:lstStyle>
            <a:lvl1pPr>
              <a:defRPr spc="0" baseline="0">
                <a:latin typeface="+mj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Project Name</a:t>
            </a:r>
            <a:endParaRPr lang="zh-TW" altLang="en-US" dirty="0"/>
          </a:p>
        </p:txBody>
      </p:sp>
      <p:sp>
        <p:nvSpPr>
          <p:cNvPr id="4" name="文字方塊 3"/>
          <p:cNvSpPr txBox="1"/>
          <p:nvPr userDrawn="1"/>
        </p:nvSpPr>
        <p:spPr>
          <a:xfrm>
            <a:off x="1441704" y="6481840"/>
            <a:ext cx="93085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 </a:t>
            </a:r>
            <a:r>
              <a:rPr lang="en-US" altLang="zh-TW" sz="8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  <a:cs typeface="Arial" panose="020B0604020202020204" pitchFamily="34" charset="0"/>
              </a:rPr>
              <a:t>PEGATRON Corporation © All Rights Reserved. No Further Distribution without Permission.</a:t>
            </a:r>
            <a:endParaRPr lang="zh-TW" altLang="en-US" sz="800" cap="all" dirty="0">
              <a:solidFill>
                <a:schemeClr val="tx2">
                  <a:lumMod val="50000"/>
                  <a:lumOff val="5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cen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E3ACB4D-08DF-D00F-F423-22C30045E9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" y="380"/>
            <a:ext cx="12190647" cy="6857239"/>
          </a:xfrm>
          <a:prstGeom prst="rect">
            <a:avLst/>
          </a:prstGeom>
        </p:spPr>
      </p:pic>
      <p:sp>
        <p:nvSpPr>
          <p:cNvPr id="24" name="文字方塊 23"/>
          <p:cNvSpPr txBox="1"/>
          <p:nvPr userDrawn="1"/>
        </p:nvSpPr>
        <p:spPr>
          <a:xfrm>
            <a:off x="4479731" y="227575"/>
            <a:ext cx="3233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solidFill>
                  <a:srgbClr val="01ABC2"/>
                </a:solidFill>
                <a:latin typeface="+mj-lt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4" name="投影片編號版面配置區 5"/>
          <p:cNvSpPr>
            <a:spLocks noGrp="1"/>
          </p:cNvSpPr>
          <p:nvPr userDrawn="1"/>
        </p:nvSpPr>
        <p:spPr>
          <a:xfrm>
            <a:off x="11492495" y="6484848"/>
            <a:ext cx="619940" cy="273852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00AFB9F-9A76-4833-BBFA-BFD914C38B6B}" type="slidenum">
              <a:rPr lang="zh-TW" altLang="en-US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‹#›</a:t>
            </a:fld>
            <a:endParaRPr lang="zh-TW" altLang="en-US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DF51DCC-B04A-F5C4-D270-F01D7ECC80B3}"/>
              </a:ext>
            </a:extLst>
          </p:cNvPr>
          <p:cNvSpPr txBox="1"/>
          <p:nvPr userDrawn="1"/>
        </p:nvSpPr>
        <p:spPr>
          <a:xfrm>
            <a:off x="1441704" y="6481840"/>
            <a:ext cx="9308592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800" b="0" i="0" dirty="0">
                <a:solidFill>
                  <a:schemeClr val="bg1"/>
                </a:solidFill>
                <a:effectLst/>
                <a:latin typeface="+mn-lt"/>
              </a:rPr>
              <a:t> </a:t>
            </a:r>
            <a:r>
              <a:rPr lang="en-US" altLang="zh-TW" sz="800" b="0" i="0" dirty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rPr>
              <a:t>PEGATRON Corporation © All Rights Reserved. No Further Distribution without Permission.</a:t>
            </a:r>
            <a:endParaRPr lang="zh-TW" altLang="en-US" sz="800" cap="all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8700EF-CCE3-FFC9-23CF-EAA9FB911FC4}"/>
              </a:ext>
            </a:extLst>
          </p:cNvPr>
          <p:cNvSpPr/>
          <p:nvPr userDrawn="1"/>
        </p:nvSpPr>
        <p:spPr>
          <a:xfrm>
            <a:off x="0" y="750795"/>
            <a:ext cx="12192000" cy="55830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left alig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" y="380"/>
            <a:ext cx="12190647" cy="6857239"/>
          </a:xfrm>
          <a:prstGeom prst="rect">
            <a:avLst/>
          </a:prstGeom>
        </p:spPr>
      </p:pic>
      <p:sp>
        <p:nvSpPr>
          <p:cNvPr id="5" name="文字方塊 4"/>
          <p:cNvSpPr txBox="1"/>
          <p:nvPr userDrawn="1"/>
        </p:nvSpPr>
        <p:spPr>
          <a:xfrm>
            <a:off x="0" y="175895"/>
            <a:ext cx="2326869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solidFill>
                  <a:schemeClr val="accent4"/>
                </a:solidFill>
                <a:latin typeface="+mj-lt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19FA369-D96A-9D01-EAAD-B3886ED4400C}"/>
              </a:ext>
            </a:extLst>
          </p:cNvPr>
          <p:cNvSpPr txBox="1"/>
          <p:nvPr userDrawn="1"/>
        </p:nvSpPr>
        <p:spPr>
          <a:xfrm>
            <a:off x="1441704" y="6481840"/>
            <a:ext cx="9308592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TW" sz="800" b="0" i="0" dirty="0">
                <a:solidFill>
                  <a:schemeClr val="bg1"/>
                </a:solidFill>
                <a:effectLst/>
                <a:latin typeface="+mn-lt"/>
              </a:rPr>
              <a:t> </a:t>
            </a:r>
            <a:r>
              <a:rPr lang="en-US" altLang="zh-TW" sz="800" b="0" i="0" dirty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rPr>
              <a:t>PEGATRON Corporation © All Rights Reserved. No Further Distribution without Permission.</a:t>
            </a:r>
            <a:endParaRPr lang="zh-TW" altLang="en-US" sz="800" cap="all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123D9731-D28F-6896-D3D7-BBBA713195C6}"/>
              </a:ext>
            </a:extLst>
          </p:cNvPr>
          <p:cNvSpPr>
            <a:spLocks noGrp="1"/>
          </p:cNvSpPr>
          <p:nvPr userDrawn="1"/>
        </p:nvSpPr>
        <p:spPr>
          <a:xfrm>
            <a:off x="11492495" y="6484848"/>
            <a:ext cx="619940" cy="273852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00AFB9F-9A76-4833-BBFA-BFD914C38B6B}" type="slidenum">
              <a:rPr lang="zh-TW" altLang="en-US" smtClean="0">
                <a:solidFill>
                  <a:schemeClr val="bg1">
                    <a:lumMod val="95000"/>
                  </a:schemeClr>
                </a:solidFill>
                <a:latin typeface="+mj-lt"/>
              </a:rPr>
              <a:t>‹#›</a:t>
            </a:fld>
            <a:endParaRPr lang="zh-TW" altLang="en-US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 str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" y="380"/>
            <a:ext cx="12190647" cy="6857239"/>
          </a:xfrm>
          <a:prstGeom prst="rect">
            <a:avLst/>
          </a:prstGeom>
        </p:spPr>
      </p:pic>
      <p:cxnSp>
        <p:nvCxnSpPr>
          <p:cNvPr id="7" name="直線接點 6"/>
          <p:cNvCxnSpPr/>
          <p:nvPr userDrawn="1"/>
        </p:nvCxnSpPr>
        <p:spPr>
          <a:xfrm>
            <a:off x="647447" y="1625600"/>
            <a:ext cx="10898308" cy="0"/>
          </a:xfrm>
          <a:prstGeom prst="line">
            <a:avLst/>
          </a:prstGeom>
          <a:ln w="31750">
            <a:solidFill>
              <a:srgbClr val="01AB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版面配置區 7"/>
          <p:cNvSpPr>
            <a:spLocks noGrp="1"/>
          </p:cNvSpPr>
          <p:nvPr>
            <p:ph type="body" sz="half" idx="2" hasCustomPrompt="1"/>
          </p:nvPr>
        </p:nvSpPr>
        <p:spPr>
          <a:xfrm>
            <a:off x="582707" y="1717035"/>
            <a:ext cx="10874187" cy="4523973"/>
          </a:xfrm>
        </p:spPr>
        <p:txBody>
          <a:bodyPr/>
          <a:lstStyle>
            <a:lvl1pPr marL="0" indent="0">
              <a:buFontTx/>
              <a:buNone/>
              <a:defRPr spc="0" baseline="0"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en-US" altLang="zh-TW" dirty="0">
                <a:solidFill>
                  <a:schemeClr val="tx1"/>
                </a:solidFill>
              </a:rPr>
              <a:t>Content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51479" y="510562"/>
            <a:ext cx="10985328" cy="448924"/>
          </a:xfrm>
        </p:spPr>
        <p:txBody>
          <a:bodyPr lIns="101600" tIns="38100" rIns="25400" bIns="38100" anchor="t" anchorCtr="0">
            <a:noAutofit/>
          </a:bodyPr>
          <a:lstStyle>
            <a:lvl1pPr algn="l">
              <a:defRPr sz="2500" b="1" spc="0" baseline="0">
                <a:effectLst/>
                <a:latin typeface="+mj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Headline</a:t>
            </a:r>
            <a:endParaRPr lang="zh-TW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60444" y="1040130"/>
            <a:ext cx="10985311" cy="341631"/>
          </a:xfrm>
        </p:spPr>
        <p:txBody>
          <a:bodyPr lIns="101600" tIns="38100" rIns="76200" bIns="3810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000" b="1" i="0" u="none" strike="noStrike" kern="1200" cap="none" spc="0" normalizeH="0" baseline="0">
                <a:solidFill>
                  <a:schemeClr val="tx1"/>
                </a:solidFill>
                <a:uFillTx/>
                <a:latin typeface="+mj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Sub headline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D54ED61-2995-E579-E917-2D77CB8444A6}"/>
              </a:ext>
            </a:extLst>
          </p:cNvPr>
          <p:cNvSpPr txBox="1"/>
          <p:nvPr userDrawn="1"/>
        </p:nvSpPr>
        <p:spPr>
          <a:xfrm>
            <a:off x="1441704" y="6481840"/>
            <a:ext cx="93085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</a:rPr>
              <a:t> </a:t>
            </a:r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  <a:cs typeface="Arial" panose="020B0604020202020204" pitchFamily="34" charset="0"/>
              </a:rPr>
              <a:t>PEGATRON Corporation © All Rights Reserved. No Further Distribution without Permission.</a:t>
            </a:r>
            <a:endParaRPr lang="zh-TW" altLang="en-US" sz="800" cap="all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投影片編號版面配置區 5">
            <a:extLst>
              <a:ext uri="{FF2B5EF4-FFF2-40B4-BE49-F238E27FC236}">
                <a16:creationId xmlns:a16="http://schemas.microsoft.com/office/drawing/2014/main" id="{46A68F4E-B96D-6839-B6FB-BBD498516519}"/>
              </a:ext>
            </a:extLst>
          </p:cNvPr>
          <p:cNvSpPr>
            <a:spLocks noGrp="1"/>
          </p:cNvSpPr>
          <p:nvPr userDrawn="1"/>
        </p:nvSpPr>
        <p:spPr>
          <a:xfrm>
            <a:off x="11492495" y="6484848"/>
            <a:ext cx="619940" cy="273852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00AFB9F-9A76-4833-BBFA-BFD914C38B6B}" type="slidenum">
              <a:rPr lang="zh-TW" altLang="en-US" smtClean="0">
                <a:solidFill>
                  <a:schemeClr val="accent4"/>
                </a:solidFill>
                <a:latin typeface="+mj-lt"/>
              </a:rPr>
              <a:t>‹#›</a:t>
            </a:fld>
            <a:endParaRPr lang="zh-TW" altLang="en-US" dirty="0">
              <a:solidFill>
                <a:schemeClr val="accent4"/>
              </a:solidFill>
              <a:latin typeface="+mj-lt"/>
            </a:endParaRPr>
          </a:p>
        </p:txBody>
      </p:sp>
    </p:spTree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 string: headlin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" y="380"/>
            <a:ext cx="12190647" cy="6857239"/>
          </a:xfrm>
          <a:prstGeom prst="rect">
            <a:avLst/>
          </a:prstGeom>
        </p:spPr>
      </p:pic>
      <p:cxnSp>
        <p:nvCxnSpPr>
          <p:cNvPr id="7" name="直線接點 6"/>
          <p:cNvCxnSpPr/>
          <p:nvPr userDrawn="1"/>
        </p:nvCxnSpPr>
        <p:spPr>
          <a:xfrm>
            <a:off x="647447" y="1168400"/>
            <a:ext cx="10898308" cy="0"/>
          </a:xfrm>
          <a:prstGeom prst="line">
            <a:avLst/>
          </a:prstGeom>
          <a:ln w="31750">
            <a:solidFill>
              <a:srgbClr val="01AB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版面配置區 7"/>
          <p:cNvSpPr>
            <a:spLocks noGrp="1"/>
          </p:cNvSpPr>
          <p:nvPr>
            <p:ph type="body" sz="half" idx="2" hasCustomPrompt="1"/>
          </p:nvPr>
        </p:nvSpPr>
        <p:spPr>
          <a:xfrm>
            <a:off x="582707" y="1355723"/>
            <a:ext cx="10874187" cy="4749242"/>
          </a:xfrm>
        </p:spPr>
        <p:txBody>
          <a:bodyPr/>
          <a:lstStyle>
            <a:lvl1pPr marL="0" indent="0">
              <a:buFontTx/>
              <a:buNone/>
              <a:defRPr spc="0" baseline="0"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en-US" altLang="zh-TW" dirty="0">
                <a:solidFill>
                  <a:schemeClr val="tx1"/>
                </a:solidFill>
              </a:rPr>
              <a:t>Content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51479" y="510562"/>
            <a:ext cx="10985328" cy="448924"/>
          </a:xfrm>
        </p:spPr>
        <p:txBody>
          <a:bodyPr lIns="101600" tIns="38100" rIns="25400" bIns="38100" anchor="t" anchorCtr="0">
            <a:noAutofit/>
          </a:bodyPr>
          <a:lstStyle>
            <a:lvl1pPr algn="l">
              <a:defRPr sz="2500" b="1" spc="0" baseline="0">
                <a:effectLst/>
                <a:latin typeface="+mj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Headline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3E8FBFE-57B1-9A78-7EA0-B2D2BA7D8944}"/>
              </a:ext>
            </a:extLst>
          </p:cNvPr>
          <p:cNvSpPr txBox="1"/>
          <p:nvPr userDrawn="1"/>
        </p:nvSpPr>
        <p:spPr>
          <a:xfrm>
            <a:off x="1441704" y="6481840"/>
            <a:ext cx="93085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</a:rPr>
              <a:t> </a:t>
            </a:r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  <a:cs typeface="Arial" panose="020B0604020202020204" pitchFamily="34" charset="0"/>
              </a:rPr>
              <a:t>PEGATRON Corporation © All Rights Reserved. No Further Distribution without Permission.</a:t>
            </a:r>
            <a:endParaRPr lang="zh-TW" altLang="en-US" sz="800" cap="all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8A75AC7-6818-B74E-FFB9-DA69431626EE}"/>
              </a:ext>
            </a:extLst>
          </p:cNvPr>
          <p:cNvSpPr>
            <a:spLocks noGrp="1"/>
          </p:cNvSpPr>
          <p:nvPr userDrawn="1"/>
        </p:nvSpPr>
        <p:spPr>
          <a:xfrm>
            <a:off x="11492495" y="6484848"/>
            <a:ext cx="619940" cy="273852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00AFB9F-9A76-4833-BBFA-BFD914C38B6B}" type="slidenum">
              <a:rPr lang="zh-TW" altLang="en-US" smtClean="0">
                <a:solidFill>
                  <a:schemeClr val="accent4"/>
                </a:solidFill>
                <a:latin typeface="+mj-lt"/>
              </a:rPr>
              <a:t>‹#›</a:t>
            </a:fld>
            <a:endParaRPr lang="zh-TW" altLang="en-US" dirty="0">
              <a:solidFill>
                <a:schemeClr val="accent4"/>
              </a:solidFill>
              <a:latin typeface="+mj-lt"/>
            </a:endParaRPr>
          </a:p>
        </p:txBody>
      </p:sp>
    </p:spTree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out str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" y="380"/>
            <a:ext cx="12190647" cy="685723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37CF5CE8-59FD-7ACD-ED33-8C999D7B7DCF}"/>
              </a:ext>
            </a:extLst>
          </p:cNvPr>
          <p:cNvSpPr txBox="1"/>
          <p:nvPr userDrawn="1"/>
        </p:nvSpPr>
        <p:spPr>
          <a:xfrm>
            <a:off x="1441704" y="6481840"/>
            <a:ext cx="93085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</a:rPr>
              <a:t> </a:t>
            </a:r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  <a:cs typeface="Arial" panose="020B0604020202020204" pitchFamily="34" charset="0"/>
              </a:rPr>
              <a:t>PEGATRON Corporation © All Rights Reserved. No Further Distribution without Permission.</a:t>
            </a:r>
            <a:endParaRPr lang="zh-TW" altLang="en-US" sz="800" cap="all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C5969A0F-EF02-0289-68E5-E5796B91E931}"/>
              </a:ext>
            </a:extLst>
          </p:cNvPr>
          <p:cNvSpPr>
            <a:spLocks noGrp="1"/>
          </p:cNvSpPr>
          <p:nvPr userDrawn="1"/>
        </p:nvSpPr>
        <p:spPr>
          <a:xfrm>
            <a:off x="11492495" y="6484848"/>
            <a:ext cx="619940" cy="273852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00AFB9F-9A76-4833-BBFA-BFD914C38B6B}" type="slidenum">
              <a:rPr lang="zh-TW" altLang="en-US" smtClean="0">
                <a:solidFill>
                  <a:schemeClr val="accent4"/>
                </a:solidFill>
                <a:latin typeface="+mj-lt"/>
              </a:rPr>
              <a:t>‹#›</a:t>
            </a:fld>
            <a:endParaRPr lang="zh-TW" altLang="en-US" dirty="0">
              <a:solidFill>
                <a:schemeClr val="accent4"/>
              </a:solidFill>
              <a:latin typeface="+mj-lt"/>
            </a:endParaRPr>
          </a:p>
        </p:txBody>
      </p:sp>
    </p:spTree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 string off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" y="380"/>
            <a:ext cx="12190647" cy="6857239"/>
          </a:xfrm>
          <a:prstGeom prst="rect">
            <a:avLst/>
          </a:prstGeom>
        </p:spPr>
      </p:pic>
      <p:cxnSp>
        <p:nvCxnSpPr>
          <p:cNvPr id="7" name="直線接點 6"/>
          <p:cNvCxnSpPr/>
          <p:nvPr userDrawn="1"/>
        </p:nvCxnSpPr>
        <p:spPr>
          <a:xfrm>
            <a:off x="647447" y="1625600"/>
            <a:ext cx="10898308" cy="0"/>
          </a:xfrm>
          <a:prstGeom prst="line">
            <a:avLst/>
          </a:prstGeom>
          <a:ln w="31750">
            <a:solidFill>
              <a:srgbClr val="01AB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版面配置區 7"/>
          <p:cNvSpPr>
            <a:spLocks noGrp="1"/>
          </p:cNvSpPr>
          <p:nvPr>
            <p:ph type="body" sz="half" idx="2" hasCustomPrompt="1"/>
          </p:nvPr>
        </p:nvSpPr>
        <p:spPr>
          <a:xfrm>
            <a:off x="582707" y="1717035"/>
            <a:ext cx="10874187" cy="4523973"/>
          </a:xfrm>
        </p:spPr>
        <p:txBody>
          <a:bodyPr/>
          <a:lstStyle>
            <a:lvl1pPr marL="0" indent="0">
              <a:buFontTx/>
              <a:buNone/>
              <a:defRPr spc="0" baseline="0"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en-US" altLang="zh-TW" dirty="0">
                <a:solidFill>
                  <a:schemeClr val="tx1"/>
                </a:solidFill>
              </a:rPr>
              <a:t>Content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51479" y="510562"/>
            <a:ext cx="10985328" cy="448924"/>
          </a:xfrm>
        </p:spPr>
        <p:txBody>
          <a:bodyPr lIns="101600" tIns="38100" rIns="25400" bIns="38100" anchor="t" anchorCtr="0">
            <a:noAutofit/>
          </a:bodyPr>
          <a:lstStyle>
            <a:lvl1pPr algn="l">
              <a:defRPr sz="2500" b="1" spc="0" baseline="0">
                <a:effectLst/>
                <a:latin typeface="+mj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Headline</a:t>
            </a:r>
            <a:endParaRPr lang="zh-TW" altLang="en-US" dirty="0"/>
          </a:p>
        </p:txBody>
      </p:sp>
      <p:sp>
        <p:nvSpPr>
          <p:cNvPr id="12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60444" y="1040130"/>
            <a:ext cx="10985311" cy="341631"/>
          </a:xfrm>
        </p:spPr>
        <p:txBody>
          <a:bodyPr lIns="101600" tIns="38100" rIns="76200" bIns="3810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000" b="1" i="0" u="none" strike="noStrike" kern="1200" cap="none" spc="0" normalizeH="0" baseline="0">
                <a:solidFill>
                  <a:schemeClr val="tx1"/>
                </a:solidFill>
                <a:uFillTx/>
                <a:latin typeface="+mj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 dirty="0"/>
              <a:t>Sub headline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0D7354B-2F3E-2103-1740-63D1709DC5D0}"/>
              </a:ext>
            </a:extLst>
          </p:cNvPr>
          <p:cNvSpPr txBox="1"/>
          <p:nvPr userDrawn="1"/>
        </p:nvSpPr>
        <p:spPr>
          <a:xfrm>
            <a:off x="1441704" y="6481840"/>
            <a:ext cx="93085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</a:rPr>
              <a:t> </a:t>
            </a:r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  <a:cs typeface="Arial" panose="020B0604020202020204" pitchFamily="34" charset="0"/>
              </a:rPr>
              <a:t>PEGATRON Corporation © All Rights Reserved. No Further Distribution without Permission.</a:t>
            </a:r>
            <a:endParaRPr lang="zh-TW" altLang="en-US" sz="800" cap="all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60A2FC84-5ADC-A050-CCCF-A6091F71DF7A}"/>
              </a:ext>
            </a:extLst>
          </p:cNvPr>
          <p:cNvSpPr>
            <a:spLocks noGrp="1"/>
          </p:cNvSpPr>
          <p:nvPr userDrawn="1"/>
        </p:nvSpPr>
        <p:spPr>
          <a:xfrm>
            <a:off x="11492495" y="6484848"/>
            <a:ext cx="619940" cy="273852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00AFB9F-9A76-4833-BBFA-BFD914C38B6B}" type="slidenum">
              <a:rPr lang="zh-TW" altLang="en-US" smtClean="0">
                <a:solidFill>
                  <a:schemeClr val="accent4"/>
                </a:solidFill>
                <a:latin typeface="+mj-lt"/>
              </a:rPr>
              <a:t>‹#›</a:t>
            </a:fld>
            <a:endParaRPr lang="zh-TW" altLang="en-US" dirty="0">
              <a:solidFill>
                <a:schemeClr val="accent4"/>
              </a:solidFill>
              <a:latin typeface="+mj-lt"/>
            </a:endParaRPr>
          </a:p>
        </p:txBody>
      </p:sp>
    </p:spTree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 string offwhite HL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" y="380"/>
            <a:ext cx="12190647" cy="6857239"/>
          </a:xfrm>
          <a:prstGeom prst="rect">
            <a:avLst/>
          </a:prstGeom>
        </p:spPr>
      </p:pic>
      <p:cxnSp>
        <p:nvCxnSpPr>
          <p:cNvPr id="7" name="直線接點 6"/>
          <p:cNvCxnSpPr/>
          <p:nvPr userDrawn="1"/>
        </p:nvCxnSpPr>
        <p:spPr>
          <a:xfrm>
            <a:off x="647447" y="1168400"/>
            <a:ext cx="10898308" cy="0"/>
          </a:xfrm>
          <a:prstGeom prst="line">
            <a:avLst/>
          </a:prstGeom>
          <a:ln w="31750">
            <a:solidFill>
              <a:srgbClr val="01AB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版面配置區 7"/>
          <p:cNvSpPr>
            <a:spLocks noGrp="1"/>
          </p:cNvSpPr>
          <p:nvPr>
            <p:ph type="body" sz="half" idx="2" hasCustomPrompt="1"/>
          </p:nvPr>
        </p:nvSpPr>
        <p:spPr>
          <a:xfrm>
            <a:off x="582707" y="1355723"/>
            <a:ext cx="10874187" cy="4749242"/>
          </a:xfrm>
        </p:spPr>
        <p:txBody>
          <a:bodyPr/>
          <a:lstStyle>
            <a:lvl1pPr marL="0" indent="0">
              <a:buFontTx/>
              <a:buNone/>
              <a:defRPr spc="0" baseline="0"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en-US" altLang="zh-TW" dirty="0">
                <a:solidFill>
                  <a:schemeClr val="tx1"/>
                </a:solidFill>
              </a:rPr>
              <a:t>Content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551479" y="510562"/>
            <a:ext cx="10985328" cy="448924"/>
          </a:xfrm>
        </p:spPr>
        <p:txBody>
          <a:bodyPr lIns="101600" tIns="38100" rIns="25400" bIns="38100" anchor="t" anchorCtr="0">
            <a:noAutofit/>
          </a:bodyPr>
          <a:lstStyle>
            <a:lvl1pPr algn="l">
              <a:defRPr sz="2500" b="1" spc="0" baseline="0">
                <a:effectLst/>
                <a:latin typeface="+mj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Headline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1A2CA78-4941-161C-FB3E-123DCC07209D}"/>
              </a:ext>
            </a:extLst>
          </p:cNvPr>
          <p:cNvSpPr txBox="1"/>
          <p:nvPr userDrawn="1"/>
        </p:nvSpPr>
        <p:spPr>
          <a:xfrm>
            <a:off x="1441704" y="6481840"/>
            <a:ext cx="93085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</a:rPr>
              <a:t> </a:t>
            </a:r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  <a:cs typeface="Arial" panose="020B0604020202020204" pitchFamily="34" charset="0"/>
              </a:rPr>
              <a:t>PEGATRON Corporation © All Rights Reserved. No Further Distribution without Permission.</a:t>
            </a:r>
            <a:endParaRPr lang="zh-TW" altLang="en-US" sz="800" cap="all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C5902EE3-ADC6-D53B-EC74-0326DDAA3467}"/>
              </a:ext>
            </a:extLst>
          </p:cNvPr>
          <p:cNvSpPr>
            <a:spLocks noGrp="1"/>
          </p:cNvSpPr>
          <p:nvPr userDrawn="1"/>
        </p:nvSpPr>
        <p:spPr>
          <a:xfrm>
            <a:off x="11492495" y="6484848"/>
            <a:ext cx="619940" cy="273852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00AFB9F-9A76-4833-BBFA-BFD914C38B6B}" type="slidenum">
              <a:rPr lang="zh-TW" altLang="en-US" smtClean="0">
                <a:solidFill>
                  <a:schemeClr val="accent4"/>
                </a:solidFill>
                <a:latin typeface="+mj-lt"/>
              </a:rPr>
              <a:t>‹#›</a:t>
            </a:fld>
            <a:endParaRPr lang="zh-TW" altLang="en-US" dirty="0">
              <a:solidFill>
                <a:schemeClr val="accent4"/>
              </a:solidFill>
              <a:latin typeface="+mj-lt"/>
            </a:endParaRPr>
          </a:p>
        </p:txBody>
      </p:sp>
    </p:spTree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out string off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" y="380"/>
            <a:ext cx="12190647" cy="685723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43352CB-AF1C-E614-F46F-DCDEB18A5A39}"/>
              </a:ext>
            </a:extLst>
          </p:cNvPr>
          <p:cNvSpPr txBox="1"/>
          <p:nvPr userDrawn="1"/>
        </p:nvSpPr>
        <p:spPr>
          <a:xfrm>
            <a:off x="1441704" y="6481840"/>
            <a:ext cx="93085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</a:rPr>
              <a:t> </a:t>
            </a:r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  <a:cs typeface="Arial" panose="020B0604020202020204" pitchFamily="34" charset="0"/>
              </a:rPr>
              <a:t>PEGATRON Corporation © All Rights Reserved. No Further Distribution without Permission.</a:t>
            </a:r>
            <a:endParaRPr lang="zh-TW" altLang="en-US" sz="800" cap="all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B033E649-EF93-37EF-1CE2-7E0F56622375}"/>
              </a:ext>
            </a:extLst>
          </p:cNvPr>
          <p:cNvSpPr>
            <a:spLocks noGrp="1"/>
          </p:cNvSpPr>
          <p:nvPr userDrawn="1"/>
        </p:nvSpPr>
        <p:spPr>
          <a:xfrm>
            <a:off x="11492495" y="6484848"/>
            <a:ext cx="619940" cy="273852"/>
          </a:xfrm>
          <a:prstGeom prst="rect">
            <a:avLst/>
          </a:prstGeom>
        </p:spPr>
        <p:txBody>
          <a:bodyPr/>
          <a:lstStyle>
            <a:lvl1pPr algn="r"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00AFB9F-9A76-4833-BBFA-BFD914C38B6B}" type="slidenum">
              <a:rPr lang="zh-TW" altLang="en-US" smtClean="0">
                <a:solidFill>
                  <a:schemeClr val="accent4"/>
                </a:solidFill>
                <a:latin typeface="+mj-lt"/>
              </a:rPr>
              <a:t>‹#›</a:t>
            </a:fld>
            <a:endParaRPr lang="zh-TW" altLang="en-US" dirty="0">
              <a:solidFill>
                <a:schemeClr val="accent4"/>
              </a:solidFill>
              <a:latin typeface="+mj-lt"/>
            </a:endParaRPr>
          </a:p>
        </p:txBody>
      </p:sp>
    </p:spTree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ks pag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螢幕擷取畫面, 文字 的圖片&#10;&#10;自動產生的描述">
            <a:extLst>
              <a:ext uri="{FF2B5EF4-FFF2-40B4-BE49-F238E27FC236}">
                <a16:creationId xmlns:a16="http://schemas.microsoft.com/office/drawing/2014/main" id="{D6ECB5EE-F186-3FCE-0792-70CE1FCDE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20965592-4449-2DCB-B0ED-A727297C15CE}"/>
              </a:ext>
            </a:extLst>
          </p:cNvPr>
          <p:cNvSpPr txBox="1"/>
          <p:nvPr userDrawn="1"/>
        </p:nvSpPr>
        <p:spPr>
          <a:xfrm>
            <a:off x="1441704" y="6481840"/>
            <a:ext cx="93085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0" i="0" dirty="0">
                <a:solidFill>
                  <a:schemeClr val="bg1">
                    <a:lumMod val="65000"/>
                  </a:schemeClr>
                </a:solidFill>
                <a:effectLst/>
                <a:latin typeface="Calibri Light" panose="020F0302020204030204" pitchFamily="34" charset="0"/>
              </a:rPr>
              <a:t> </a:t>
            </a:r>
            <a:r>
              <a:rPr lang="en-US" altLang="zh-TW" sz="800" b="0" i="0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PEGATRON Corporation © All Rights Reserved. No Further Distribution without Permission.</a:t>
            </a:r>
            <a:endParaRPr lang="zh-TW" altLang="en-US" sz="800" cap="all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ks page w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一張含有 螢幕擷取畫面, 牆, 室內, 藝術 的圖片&#10;&#10;自動產生的描述">
            <a:extLst>
              <a:ext uri="{FF2B5EF4-FFF2-40B4-BE49-F238E27FC236}">
                <a16:creationId xmlns:a16="http://schemas.microsoft.com/office/drawing/2014/main" id="{43953563-D9B6-0029-B0BF-2E2F167018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06D45F3-2CF4-1C31-9F00-D7202AC84E3B}"/>
              </a:ext>
            </a:extLst>
          </p:cNvPr>
          <p:cNvSpPr txBox="1"/>
          <p:nvPr userDrawn="1"/>
        </p:nvSpPr>
        <p:spPr>
          <a:xfrm>
            <a:off x="1441704" y="6481840"/>
            <a:ext cx="93085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</a:rPr>
              <a:t> </a:t>
            </a:r>
            <a:r>
              <a:rPr lang="en-US" altLang="zh-TW" sz="800" b="0" i="0" dirty="0">
                <a:solidFill>
                  <a:schemeClr val="bg2"/>
                </a:solidFill>
                <a:effectLst/>
                <a:latin typeface="+mn-lt"/>
                <a:cs typeface="Arial" panose="020B0604020202020204" pitchFamily="34" charset="0"/>
              </a:rPr>
              <a:t>PEGATRON Corporation © All Rights Reserved. No Further Distribution without Permission.</a:t>
            </a:r>
            <a:endParaRPr lang="zh-TW" altLang="en-US" sz="800" cap="all" dirty="0">
              <a:solidFill>
                <a:schemeClr val="bg2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351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" name="群組 2"/>
          <p:cNvGrpSpPr/>
          <p:nvPr userDrawn="1"/>
        </p:nvGrpSpPr>
        <p:grpSpPr>
          <a:xfrm>
            <a:off x="12294870" y="0"/>
            <a:ext cx="894923" cy="4331286"/>
            <a:chOff x="12192000" y="0"/>
            <a:chExt cx="894923" cy="4331286"/>
          </a:xfrm>
        </p:grpSpPr>
        <p:grpSp>
          <p:nvGrpSpPr>
            <p:cNvPr id="4" name="群組 3"/>
            <p:cNvGrpSpPr/>
            <p:nvPr userDrawn="1"/>
          </p:nvGrpSpPr>
          <p:grpSpPr>
            <a:xfrm>
              <a:off x="12192000" y="0"/>
              <a:ext cx="168442" cy="4331286"/>
              <a:chOff x="12368463" y="0"/>
              <a:chExt cx="168442" cy="4331286"/>
            </a:xfrm>
          </p:grpSpPr>
          <p:sp>
            <p:nvSpPr>
              <p:cNvPr id="16" name="矩形 15"/>
              <p:cNvSpPr/>
              <p:nvPr userDrawn="1"/>
            </p:nvSpPr>
            <p:spPr>
              <a:xfrm>
                <a:off x="12368463" y="0"/>
                <a:ext cx="168442" cy="48126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/>
              <p:cNvSpPr/>
              <p:nvPr userDrawn="1"/>
            </p:nvSpPr>
            <p:spPr>
              <a:xfrm>
                <a:off x="12368463" y="481263"/>
                <a:ext cx="168442" cy="481263"/>
              </a:xfrm>
              <a:prstGeom prst="rect">
                <a:avLst/>
              </a:prstGeom>
              <a:solidFill>
                <a:schemeClr val="tx1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矩形 17"/>
              <p:cNvSpPr/>
              <p:nvPr userDrawn="1"/>
            </p:nvSpPr>
            <p:spPr>
              <a:xfrm>
                <a:off x="12368463" y="962526"/>
                <a:ext cx="168442" cy="481263"/>
              </a:xfrm>
              <a:prstGeom prst="rect">
                <a:avLst/>
              </a:prstGeom>
              <a:solidFill>
                <a:schemeClr val="bg2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/>
              <p:cNvSpPr/>
              <p:nvPr userDrawn="1"/>
            </p:nvSpPr>
            <p:spPr>
              <a:xfrm>
                <a:off x="12368463" y="1443789"/>
                <a:ext cx="168442" cy="481263"/>
              </a:xfrm>
              <a:prstGeom prst="rect">
                <a:avLst/>
              </a:prstGeom>
              <a:solidFill>
                <a:schemeClr val="tx2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 userDrawn="1"/>
            </p:nvSpPr>
            <p:spPr>
              <a:xfrm>
                <a:off x="12368463" y="1925052"/>
                <a:ext cx="168442" cy="481263"/>
              </a:xfrm>
              <a:prstGeom prst="rect">
                <a:avLst/>
              </a:prstGeom>
              <a:solidFill>
                <a:schemeClr val="accent1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/>
              <p:cNvSpPr/>
              <p:nvPr userDrawn="1"/>
            </p:nvSpPr>
            <p:spPr>
              <a:xfrm>
                <a:off x="12368463" y="2406315"/>
                <a:ext cx="168442" cy="481263"/>
              </a:xfrm>
              <a:prstGeom prst="rect">
                <a:avLst/>
              </a:prstGeom>
              <a:solidFill>
                <a:schemeClr val="accent2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矩形 21"/>
              <p:cNvSpPr/>
              <p:nvPr userDrawn="1"/>
            </p:nvSpPr>
            <p:spPr>
              <a:xfrm>
                <a:off x="12368463" y="2887578"/>
                <a:ext cx="168442" cy="481263"/>
              </a:xfrm>
              <a:prstGeom prst="rect">
                <a:avLst/>
              </a:prstGeom>
              <a:solidFill>
                <a:schemeClr val="accent3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矩形 22"/>
              <p:cNvSpPr/>
              <p:nvPr userDrawn="1"/>
            </p:nvSpPr>
            <p:spPr>
              <a:xfrm>
                <a:off x="12368463" y="3368760"/>
                <a:ext cx="168442" cy="481263"/>
              </a:xfrm>
              <a:prstGeom prst="rect">
                <a:avLst/>
              </a:prstGeom>
              <a:solidFill>
                <a:schemeClr val="accent4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矩形 23"/>
              <p:cNvSpPr/>
              <p:nvPr userDrawn="1"/>
            </p:nvSpPr>
            <p:spPr>
              <a:xfrm>
                <a:off x="12368463" y="3850023"/>
                <a:ext cx="168442" cy="481263"/>
              </a:xfrm>
              <a:prstGeom prst="rect">
                <a:avLst/>
              </a:prstGeom>
              <a:solidFill>
                <a:schemeClr val="accent5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5" name="群組 4"/>
            <p:cNvGrpSpPr/>
            <p:nvPr userDrawn="1"/>
          </p:nvGrpSpPr>
          <p:grpSpPr>
            <a:xfrm>
              <a:off x="12360442" y="8532"/>
              <a:ext cx="726481" cy="4263504"/>
              <a:chOff x="12360442" y="8532"/>
              <a:chExt cx="726481" cy="4263504"/>
            </a:xfrm>
          </p:grpSpPr>
          <p:sp>
            <p:nvSpPr>
              <p:cNvPr id="6" name="文字方塊 5"/>
              <p:cNvSpPr txBox="1"/>
              <p:nvPr userDrawn="1"/>
            </p:nvSpPr>
            <p:spPr>
              <a:xfrm>
                <a:off x="12360442" y="8532"/>
                <a:ext cx="7264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White</a:t>
                </a:r>
              </a:p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255/255/255</a:t>
                </a:r>
              </a:p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#FFFFFF</a:t>
                </a:r>
                <a:endParaRPr lang="zh-TW" altLang="en-US" sz="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" name="文字方塊 7"/>
              <p:cNvSpPr txBox="1"/>
              <p:nvPr userDrawn="1"/>
            </p:nvSpPr>
            <p:spPr>
              <a:xfrm>
                <a:off x="12360442" y="487737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Black</a:t>
                </a:r>
              </a:p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0/0/0</a:t>
                </a:r>
              </a:p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#00000</a:t>
                </a:r>
                <a:endParaRPr lang="zh-TW" altLang="en-US" sz="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" name="文字方塊 8"/>
              <p:cNvSpPr txBox="1"/>
              <p:nvPr userDrawn="1"/>
            </p:nvSpPr>
            <p:spPr>
              <a:xfrm>
                <a:off x="12360442" y="1041449"/>
                <a:ext cx="57259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95/91/91</a:t>
                </a:r>
              </a:p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#5E5B5B</a:t>
                </a:r>
              </a:p>
            </p:txBody>
          </p:sp>
          <p:sp>
            <p:nvSpPr>
              <p:cNvPr id="10" name="文字方塊 9"/>
              <p:cNvSpPr txBox="1"/>
              <p:nvPr userDrawn="1"/>
            </p:nvSpPr>
            <p:spPr>
              <a:xfrm>
                <a:off x="12360442" y="1515143"/>
                <a:ext cx="57259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48/48/48</a:t>
                </a:r>
              </a:p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#303030</a:t>
                </a:r>
                <a:endParaRPr lang="zh-TW" altLang="en-US" sz="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1" name="文字方塊 10"/>
              <p:cNvSpPr txBox="1"/>
              <p:nvPr userDrawn="1"/>
            </p:nvSpPr>
            <p:spPr>
              <a:xfrm>
                <a:off x="12360442" y="1997364"/>
                <a:ext cx="7264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232/232/232</a:t>
                </a:r>
              </a:p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#E8E8E8</a:t>
                </a:r>
                <a:endParaRPr lang="zh-TW" altLang="en-US" sz="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文字方塊 11"/>
              <p:cNvSpPr txBox="1"/>
              <p:nvPr userDrawn="1"/>
            </p:nvSpPr>
            <p:spPr>
              <a:xfrm>
                <a:off x="12360442" y="2476914"/>
                <a:ext cx="6751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166/144/96</a:t>
                </a:r>
              </a:p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#A69060</a:t>
                </a:r>
                <a:endParaRPr lang="zh-TW" altLang="en-US" sz="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文字方塊 12"/>
              <p:cNvSpPr txBox="1"/>
              <p:nvPr userDrawn="1"/>
            </p:nvSpPr>
            <p:spPr>
              <a:xfrm>
                <a:off x="12360442" y="2974635"/>
                <a:ext cx="7264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193/171/122</a:t>
                </a:r>
              </a:p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#C1AB7A</a:t>
                </a:r>
                <a:endParaRPr lang="zh-TW" altLang="en-US" sz="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" name="文字方塊 13"/>
              <p:cNvSpPr txBox="1"/>
              <p:nvPr userDrawn="1"/>
            </p:nvSpPr>
            <p:spPr>
              <a:xfrm>
                <a:off x="12360442" y="3440114"/>
                <a:ext cx="6238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0/171/194</a:t>
                </a:r>
              </a:p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#00ABC2</a:t>
                </a:r>
                <a:endParaRPr lang="zh-TW" altLang="en-US" sz="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文字方塊 14"/>
              <p:cNvSpPr txBox="1"/>
              <p:nvPr userDrawn="1"/>
            </p:nvSpPr>
            <p:spPr>
              <a:xfrm>
                <a:off x="12360442" y="3933482"/>
                <a:ext cx="6751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18/149/216</a:t>
                </a:r>
              </a:p>
              <a:p>
                <a:r>
                  <a:rPr lang="en-US" altLang="zh-TW" sz="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#1295D8</a:t>
                </a:r>
                <a:endParaRPr lang="zh-TW" altLang="en-US" sz="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5" r:id="rId8"/>
    <p:sldLayoutId id="2147483657" r:id="rId9"/>
    <p:sldLayoutId id="2147483661" r:id="rId10"/>
    <p:sldLayoutId id="2147483662" r:id="rId11"/>
  </p:sldLayoutIdLst>
  <p:hf sldNum="0" hdr="0" ft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Thorpe</a:t>
            </a:r>
            <a:endParaRPr lang="zh-TW" altLang="en-US" dirty="0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745127" y="2622675"/>
            <a:ext cx="881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Status - </a:t>
            </a:r>
            <a:r>
              <a:rPr lang="en-US" altLang="zh-TW" dirty="0" err="1" smtClean="0"/>
              <a:t>ARCore</a:t>
            </a:r>
            <a:r>
              <a:rPr lang="en-US" altLang="zh-TW" dirty="0" smtClean="0"/>
              <a:t> </a:t>
            </a:r>
            <a:r>
              <a:rPr lang="en-US" altLang="zh-TW" dirty="0"/>
              <a:t>90-Degree Image Rotation Bug</a:t>
            </a:r>
            <a:endParaRPr lang="zh-TW" altLang="en-US" sz="2000" dirty="0"/>
          </a:p>
        </p:txBody>
      </p:sp>
      <p:sp>
        <p:nvSpPr>
          <p:cNvPr id="16" name="文字方塊 15"/>
          <p:cNvSpPr txBox="1"/>
          <p:nvPr userDrawn="1"/>
        </p:nvSpPr>
        <p:spPr>
          <a:xfrm>
            <a:off x="6717591" y="4209228"/>
            <a:ext cx="2516241" cy="581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1600" b="1" dirty="0">
                <a:ea typeface="微軟正黑體" panose="020B0604030504040204" pitchFamily="34" charset="-120"/>
                <a:cs typeface="Arial" panose="020B0604020202020204" pitchFamily="34" charset="0"/>
              </a:rPr>
              <a:t>MEMBER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1200" dirty="0" smtClean="0">
                <a:solidFill>
                  <a:schemeClr val="bg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James/Nick/Billy</a:t>
            </a:r>
            <a:endParaRPr lang="en-US" altLang="zh-TW" sz="1200" b="1" dirty="0">
              <a:solidFill>
                <a:schemeClr val="bg2"/>
              </a:solidFill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8" name="文字方塊 17"/>
          <p:cNvSpPr txBox="1"/>
          <p:nvPr userDrawn="1"/>
        </p:nvSpPr>
        <p:spPr>
          <a:xfrm>
            <a:off x="9703891" y="4209228"/>
            <a:ext cx="1212465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1600" b="1" dirty="0">
                <a:ea typeface="微軟正黑體" panose="020B0604030504040204" pitchFamily="34" charset="-120"/>
                <a:cs typeface="Arial" panose="020B0604020202020204" pitchFamily="34" charset="0"/>
              </a:rPr>
              <a:t>DATE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1200" dirty="0">
                <a:solidFill>
                  <a:schemeClr val="bg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Nov / </a:t>
            </a:r>
            <a:r>
              <a:rPr lang="en-US" altLang="zh-TW" sz="1200" dirty="0" smtClean="0">
                <a:solidFill>
                  <a:schemeClr val="bg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18, </a:t>
            </a:r>
            <a:r>
              <a:rPr lang="en-US" altLang="zh-TW" sz="1200" dirty="0">
                <a:solidFill>
                  <a:schemeClr val="bg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2025</a:t>
            </a:r>
            <a:endParaRPr lang="en-US" altLang="zh-TW" sz="1200" b="1" dirty="0">
              <a:solidFill>
                <a:schemeClr val="bg2"/>
              </a:solidFill>
              <a:ea typeface="微軟正黑體" panose="020B0604030504040204" pitchFamily="34" charset="-12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AD4C6B0-74DF-CEAF-B644-CE842D236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Background</a:t>
            </a: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5A8C0FB7-D5D7-8144-A7EF-8C41A1794758}"/>
              </a:ext>
            </a:extLst>
          </p:cNvPr>
          <p:cNvGrpSpPr/>
          <p:nvPr/>
        </p:nvGrpSpPr>
        <p:grpSpPr>
          <a:xfrm>
            <a:off x="3105939" y="3200072"/>
            <a:ext cx="6783496" cy="3469086"/>
            <a:chOff x="2147004" y="1296988"/>
            <a:chExt cx="7897991" cy="3989387"/>
          </a:xfrm>
        </p:grpSpPr>
        <p:pic>
          <p:nvPicPr>
            <p:cNvPr id="7" name="內容版面配置區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7004" y="1296988"/>
              <a:ext cx="7897991" cy="3989387"/>
            </a:xfrm>
            <a:prstGeom prst="rect">
              <a:avLst/>
            </a:prstGeom>
          </p:spPr>
        </p:pic>
        <p:sp>
          <p:nvSpPr>
            <p:cNvPr id="8" name="圓角矩形 7"/>
            <p:cNvSpPr/>
            <p:nvPr/>
          </p:nvSpPr>
          <p:spPr>
            <a:xfrm>
              <a:off x="8020050" y="2844800"/>
              <a:ext cx="1625600" cy="17018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8528036" y="2475468"/>
              <a:ext cx="1117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Mainline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4756150" y="2844800"/>
              <a:ext cx="2260600" cy="2330450"/>
            </a:xfrm>
            <a:prstGeom prst="roundRect">
              <a:avLst>
                <a:gd name="adj" fmla="val 10487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6172200" y="2491343"/>
              <a:ext cx="15167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</a:rPr>
                <a:t>New solution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弧形向右箭號 11"/>
            <p:cNvSpPr/>
            <p:nvPr/>
          </p:nvSpPr>
          <p:spPr>
            <a:xfrm rot="5400000">
              <a:off x="7917999" y="1705475"/>
              <a:ext cx="381000" cy="1295512"/>
            </a:xfrm>
            <a:prstGeom prst="curvedRightArrow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805939"/>
              </p:ext>
            </p:extLst>
          </p:nvPr>
        </p:nvGraphicFramePr>
        <p:xfrm>
          <a:off x="1173202" y="1164562"/>
          <a:ext cx="9128123" cy="1795462"/>
        </p:xfrm>
        <a:graphic>
          <a:graphicData uri="http://schemas.openxmlformats.org/drawingml/2006/table">
            <a:tbl>
              <a:tblPr/>
              <a:tblGrid>
                <a:gridCol w="220612">
                  <a:extLst>
                    <a:ext uri="{9D8B030D-6E8A-4147-A177-3AD203B41FA5}">
                      <a16:colId xmlns:a16="http://schemas.microsoft.com/office/drawing/2014/main" val="4184266400"/>
                    </a:ext>
                  </a:extLst>
                </a:gridCol>
                <a:gridCol w="1075456">
                  <a:extLst>
                    <a:ext uri="{9D8B030D-6E8A-4147-A177-3AD203B41FA5}">
                      <a16:colId xmlns:a16="http://schemas.microsoft.com/office/drawing/2014/main" val="439444634"/>
                    </a:ext>
                  </a:extLst>
                </a:gridCol>
                <a:gridCol w="1584084">
                  <a:extLst>
                    <a:ext uri="{9D8B030D-6E8A-4147-A177-3AD203B41FA5}">
                      <a16:colId xmlns:a16="http://schemas.microsoft.com/office/drawing/2014/main" val="1245093415"/>
                    </a:ext>
                  </a:extLst>
                </a:gridCol>
                <a:gridCol w="1080057">
                  <a:extLst>
                    <a:ext uri="{9D8B030D-6E8A-4147-A177-3AD203B41FA5}">
                      <a16:colId xmlns:a16="http://schemas.microsoft.com/office/drawing/2014/main" val="2460918529"/>
                    </a:ext>
                  </a:extLst>
                </a:gridCol>
                <a:gridCol w="1440076">
                  <a:extLst>
                    <a:ext uri="{9D8B030D-6E8A-4147-A177-3AD203B41FA5}">
                      <a16:colId xmlns:a16="http://schemas.microsoft.com/office/drawing/2014/main" val="2818100897"/>
                    </a:ext>
                  </a:extLst>
                </a:gridCol>
                <a:gridCol w="864046">
                  <a:extLst>
                    <a:ext uri="{9D8B030D-6E8A-4147-A177-3AD203B41FA5}">
                      <a16:colId xmlns:a16="http://schemas.microsoft.com/office/drawing/2014/main" val="3458184481"/>
                    </a:ext>
                  </a:extLst>
                </a:gridCol>
                <a:gridCol w="576030">
                  <a:extLst>
                    <a:ext uri="{9D8B030D-6E8A-4147-A177-3AD203B41FA5}">
                      <a16:colId xmlns:a16="http://schemas.microsoft.com/office/drawing/2014/main" val="2906156765"/>
                    </a:ext>
                  </a:extLst>
                </a:gridCol>
                <a:gridCol w="648034">
                  <a:extLst>
                    <a:ext uri="{9D8B030D-6E8A-4147-A177-3AD203B41FA5}">
                      <a16:colId xmlns:a16="http://schemas.microsoft.com/office/drawing/2014/main" val="3471762275"/>
                    </a:ext>
                  </a:extLst>
                </a:gridCol>
                <a:gridCol w="504027">
                  <a:extLst>
                    <a:ext uri="{9D8B030D-6E8A-4147-A177-3AD203B41FA5}">
                      <a16:colId xmlns:a16="http://schemas.microsoft.com/office/drawing/2014/main" val="3754224264"/>
                    </a:ext>
                  </a:extLst>
                </a:gridCol>
                <a:gridCol w="576030">
                  <a:extLst>
                    <a:ext uri="{9D8B030D-6E8A-4147-A177-3AD203B41FA5}">
                      <a16:colId xmlns:a16="http://schemas.microsoft.com/office/drawing/2014/main" val="3488687388"/>
                    </a:ext>
                  </a:extLst>
                </a:gridCol>
                <a:gridCol w="559671">
                  <a:extLst>
                    <a:ext uri="{9D8B030D-6E8A-4147-A177-3AD203B41FA5}">
                      <a16:colId xmlns:a16="http://schemas.microsoft.com/office/drawing/2014/main" val="3207645781"/>
                    </a:ext>
                  </a:extLst>
                </a:gridCol>
              </a:tblGrid>
              <a:tr h="126682"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Android Launcher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Sanpdragon Camera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ARCore CamCal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1900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Case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android.lens.poseRotation</a:t>
                      </a: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(</a:t>
                      </a:r>
                      <a:r>
                        <a:rPr lang="en-US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x,y,x,w</a:t>
                      </a:r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device tree camera sensor yaw/picth/roll (android.sensor.orientation)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DisplayRotation</a:t>
                      </a:r>
                      <a:r>
                        <a:rPr lang="en-US" sz="8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.java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 ro.surface_flinger.primary_display_orientation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UI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UI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Stream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Still Image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UI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Stream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59367"/>
                  </a:ext>
                </a:extLst>
              </a:tr>
              <a:tr h="1303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[0,0,0,1]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ROTATION_0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ORIENTATION_0 (IDP)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Portrait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Portrait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Portrait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585112"/>
                  </a:ext>
                </a:extLst>
              </a:tr>
              <a:tr h="1303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[0,0,0,1]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roll= 0, pitch=0, yaw=180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ROTATION_0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ORIENTATION_90(Thorpe)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Portrait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875071"/>
                  </a:ext>
                </a:extLst>
              </a:tr>
              <a:tr h="1303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[0,0,0,1]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roll= 0, pitch=0, yaw=180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ROTATION_0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ORIENTATION_90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Portrait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117972"/>
                  </a:ext>
                </a:extLst>
              </a:tr>
              <a:tr h="1303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[0,0,0,1]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roll= 90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, pitch=0, yaw=180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ROTATION_0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ORIENTATION_90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Portrait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Portrait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Portrait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938506"/>
                  </a:ext>
                </a:extLst>
              </a:tr>
              <a:tr h="1303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[0,0,0,1]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roll= 0, 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pitch=90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, yaw=180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ROTATION_0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ORIENTATION_90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APP fail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36578"/>
                  </a:ext>
                </a:extLst>
              </a:tr>
              <a:tr h="1303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[0,0,0,1]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roll= 0, pitch=0, 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yaw=270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ROTATION_0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ORIENTATION_90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APP fail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252638"/>
                  </a:ext>
                </a:extLst>
              </a:tr>
              <a:tr h="1303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[0,0,0,1]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roll= 0, 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pitch=90, yaw=270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ROTATION_0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ORIENTATION_90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APP fail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445574"/>
                  </a:ext>
                </a:extLst>
              </a:tr>
              <a:tr h="1303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[0,0,0,1]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roll= 0, pitch=0, yaw=180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ROTATION_0</a:t>
                      </a:r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ORIENTATION_0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Portrait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098141"/>
                  </a:ext>
                </a:extLst>
              </a:tr>
              <a:tr h="1303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[0,0,</a:t>
                      </a:r>
                      <a:r>
                        <a:rPr lang="en-US" altLang="zh-TW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0.707,0.707</a:t>
                      </a:r>
                      <a:r>
                        <a:rPr lang="en-US" altLang="zh-TW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]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roll= 0, pitch=0, yaw=180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ROTATION_0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ORIENTATION_90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Portrait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163187"/>
                  </a:ext>
                </a:extLst>
              </a:tr>
              <a:tr h="1303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10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[0,0,0,1]</a:t>
                      </a:r>
                      <a:endParaRPr lang="en-US" altLang="zh-TW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roll= 90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, pitch=0, yaw=180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ROTATION_90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ORIENTATION_0</a:t>
                      </a:r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</a:rPr>
                        <a:t>Portrait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</a:rPr>
                        <a:t>Landscape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</a:rPr>
                        <a:t>Landscape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41452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3343EDE3-4174-5FF6-CFD3-C07DE8620BE5}"/>
              </a:ext>
            </a:extLst>
          </p:cNvPr>
          <p:cNvSpPr/>
          <p:nvPr/>
        </p:nvSpPr>
        <p:spPr>
          <a:xfrm>
            <a:off x="607842" y="2798333"/>
            <a:ext cx="10872602" cy="1495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 err="1" smtClean="0"/>
              <a:t>ro.surface_flinger.primary_display_orientation</a:t>
            </a:r>
            <a:r>
              <a:rPr lang="en-US" altLang="zh-TW" sz="1800" dirty="0" smtClean="0"/>
              <a:t>=ORIENTATION_90</a:t>
            </a:r>
            <a:endParaRPr lang="en-US" altLang="zh-TW" sz="1800" dirty="0"/>
          </a:p>
          <a:p>
            <a:pPr marL="971550" lvl="1" indent="-285750"/>
            <a:r>
              <a:rPr lang="en-US" altLang="zh-TW" sz="1800" dirty="0" smtClean="0"/>
              <a:t>The </a:t>
            </a:r>
            <a:r>
              <a:rPr lang="en-US" altLang="zh-TW" sz="1800" dirty="0" err="1"/>
              <a:t>SurfaceFlinger</a:t>
            </a:r>
            <a:r>
              <a:rPr lang="en-US" altLang="zh-TW" sz="1800" dirty="0"/>
              <a:t> defined the internal display’s natural orientation as 90°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AR core </a:t>
            </a:r>
            <a:r>
              <a:rPr lang="en-US" altLang="zh-TW" sz="1800" dirty="0" smtClean="0"/>
              <a:t>camera calibration fail </a:t>
            </a:r>
            <a:r>
              <a:rPr lang="en-US" altLang="zh-TW" sz="1800" dirty="0"/>
              <a:t>(90 degree)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altLang="zh-TW" sz="2400" dirty="0"/>
              <a:t>Mainline</a:t>
            </a:r>
            <a:r>
              <a:rPr lang="en-US" altLang="zh-TW" sz="2400" dirty="0"/>
              <a:t>: Original Baseline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802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005573"/>
              </p:ext>
            </p:extLst>
          </p:nvPr>
        </p:nvGraphicFramePr>
        <p:xfrm>
          <a:off x="782782" y="745216"/>
          <a:ext cx="10655685" cy="4840575"/>
        </p:xfrm>
        <a:graphic>
          <a:graphicData uri="http://schemas.openxmlformats.org/drawingml/2006/table">
            <a:tbl>
              <a:tblPr firstRow="1" firstCol="1" bandRow="1"/>
              <a:tblGrid>
                <a:gridCol w="1583952">
                  <a:extLst>
                    <a:ext uri="{9D8B030D-6E8A-4147-A177-3AD203B41FA5}">
                      <a16:colId xmlns:a16="http://schemas.microsoft.com/office/drawing/2014/main" val="638878679"/>
                    </a:ext>
                  </a:extLst>
                </a:gridCol>
                <a:gridCol w="9071733">
                  <a:extLst>
                    <a:ext uri="{9D8B030D-6E8A-4147-A177-3AD203B41FA5}">
                      <a16:colId xmlns:a16="http://schemas.microsoft.com/office/drawing/2014/main" val="1134304719"/>
                    </a:ext>
                  </a:extLst>
                </a:gridCol>
              </a:tblGrid>
              <a:tr h="6565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PH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Status</a:t>
                      </a:r>
                      <a:endParaRPr lang="zh-TW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PH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Description</a:t>
                      </a:r>
                      <a:endParaRPr lang="zh-TW" sz="2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035019"/>
                  </a:ext>
                </a:extLst>
              </a:tr>
              <a:tr h="8892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PH" altLang="zh-TW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Mainline</a:t>
                      </a:r>
                      <a:endParaRPr lang="zh-TW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 marL="0" lvl="0" indent="0"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PH" sz="1800" dirty="0">
                          <a:effectLst/>
                          <a:latin typeface="+mn-lt"/>
                        </a:rPr>
                        <a:t>Original setup using system property </a:t>
                      </a:r>
                      <a:r>
                        <a:rPr lang="en-PH" sz="1800" dirty="0" err="1" smtClean="0">
                          <a:effectLst/>
                          <a:latin typeface="+mn-lt"/>
                        </a:rPr>
                        <a:t>ro.surface_flinger.primary_display_orientation</a:t>
                      </a:r>
                      <a:r>
                        <a:rPr lang="en-PH" sz="1800" dirty="0" smtClean="0">
                          <a:effectLst/>
                          <a:latin typeface="+mn-lt"/>
                        </a:rPr>
                        <a:t>=ORIENTATION_90</a:t>
                      </a:r>
                      <a:endParaRPr lang="zh-TW" sz="18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035742"/>
                  </a:ext>
                </a:extLst>
              </a:tr>
              <a:tr h="32947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PH" sz="2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Solution</a:t>
                      </a:r>
                      <a:endParaRPr lang="zh-TW" sz="2000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 marL="457200" lvl="0" indent="-45720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PH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r>
                        <a:rPr lang="en-PH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PH" altLang="zh-TW" sz="1800" kern="1200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ro.surface_flinger.primary_display_orientation</a:t>
                      </a:r>
                      <a:r>
                        <a:rPr lang="en-PH" altLang="zh-TW" sz="180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=ORIENTATION_0</a:t>
                      </a:r>
                      <a:endParaRPr lang="zh-TW" sz="18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0" indent="-457200" algn="l" defTabSz="914400" rtl="0" eaLnBrk="1" latinLnBrk="0" hangingPunct="1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PH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adjust sensor, touch, and camera XY </a:t>
                      </a:r>
                      <a:r>
                        <a:rPr lang="en-PH" altLang="zh-TW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orientation</a:t>
                      </a:r>
                      <a:r>
                        <a:rPr lang="en-PH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align with portrait as the natural </a:t>
                      </a:r>
                      <a:r>
                        <a:rPr lang="en-PH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orientation</a:t>
                      </a:r>
                      <a:endParaRPr lang="zh-TW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57200" lvl="0" indent="-457200"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PH" sz="180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Add +90° offset on top of Phase 2</a:t>
                      </a:r>
                      <a:r>
                        <a:rPr lang="en-PH" sz="1800" dirty="0">
                          <a:effectLst/>
                          <a:latin typeface="+mn-lt"/>
                        </a:rPr>
                        <a:t> with animation and framework-level configuration</a:t>
                      </a:r>
                      <a:endParaRPr lang="zh-TW" sz="1800" dirty="0">
                        <a:effectLst/>
                        <a:latin typeface="+mn-lt"/>
                      </a:endParaRPr>
                    </a:p>
                    <a:p>
                      <a:pPr marL="457200" lvl="1" indent="0"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zh-TW" sz="1800" dirty="0">
                          <a:effectLst/>
                          <a:latin typeface="+mn-lt"/>
                        </a:rPr>
                        <a:t>3.1</a:t>
                      </a:r>
                      <a:r>
                        <a:rPr lang="zh-TW" altLang="en-US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en-PH" altLang="zh-TW" sz="1800" dirty="0">
                          <a:effectLst/>
                          <a:latin typeface="+mn-lt"/>
                        </a:rPr>
                        <a:t>Change window Manager Service</a:t>
                      </a:r>
                      <a:endParaRPr lang="zh-TW" sz="1800" dirty="0">
                        <a:effectLst/>
                        <a:latin typeface="+mn-lt"/>
                      </a:endParaRPr>
                    </a:p>
                    <a:p>
                      <a:pPr marL="1200150" lvl="2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PH" sz="1800" dirty="0">
                          <a:effectLst/>
                          <a:latin typeface="+mn-lt"/>
                        </a:rPr>
                        <a:t>Change </a:t>
                      </a:r>
                      <a:r>
                        <a:rPr lang="en-PH" sz="1800" dirty="0" err="1">
                          <a:effectLst/>
                          <a:latin typeface="+mn-lt"/>
                        </a:rPr>
                        <a:t>wm</a:t>
                      </a:r>
                      <a:r>
                        <a:rPr lang="en-PH" sz="1800" dirty="0">
                          <a:effectLst/>
                          <a:latin typeface="+mn-lt"/>
                        </a:rPr>
                        <a:t>/DisplayRotation.java code</a:t>
                      </a:r>
                    </a:p>
                    <a:p>
                      <a:pPr marL="1200150" lvl="2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PH" sz="1800" dirty="0">
                          <a:effectLst/>
                          <a:latin typeface="+mn-lt"/>
                        </a:rPr>
                        <a:t>Set NATURAL_ROTATION (default coordinate system) as Surface.ROTATION_90</a:t>
                      </a:r>
                      <a:endParaRPr lang="zh-TW" sz="1800" dirty="0">
                        <a:effectLst/>
                        <a:latin typeface="+mn-lt"/>
                      </a:endParaRPr>
                    </a:p>
                    <a:p>
                      <a:pPr marL="1200150" lvl="2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PH" sz="1800" dirty="0">
                          <a:effectLst/>
                          <a:latin typeface="+mn-lt"/>
                        </a:rPr>
                        <a:t>Set "</a:t>
                      </a:r>
                      <a:r>
                        <a:rPr lang="en-PH" sz="1800" dirty="0" err="1">
                          <a:effectLst/>
                          <a:latin typeface="+mn-lt"/>
                        </a:rPr>
                        <a:t>def_user_rotation</a:t>
                      </a:r>
                      <a:r>
                        <a:rPr lang="en-PH" sz="1800" dirty="0">
                          <a:effectLst/>
                          <a:latin typeface="+mn-lt"/>
                        </a:rPr>
                        <a:t>" as 1</a:t>
                      </a:r>
                    </a:p>
                    <a:p>
                      <a:pPr marL="457200" lvl="1" indent="0"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zh-TW" sz="1800" dirty="0">
                          <a:effectLst/>
                          <a:latin typeface="+mn-lt"/>
                        </a:rPr>
                        <a:t>3.2</a:t>
                      </a:r>
                      <a:r>
                        <a:rPr lang="zh-TW" altLang="en-US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en-PH" altLang="zh-TW" sz="1800" dirty="0">
                          <a:effectLst/>
                          <a:latin typeface="+mn-lt"/>
                        </a:rPr>
                        <a:t>Change setup wizard direction</a:t>
                      </a:r>
                      <a:endParaRPr lang="zh-TW" altLang="zh-TW" sz="1800" dirty="0">
                        <a:effectLst/>
                        <a:latin typeface="+mn-lt"/>
                      </a:endParaRPr>
                    </a:p>
                    <a:p>
                      <a:pPr marL="457200" lvl="1" indent="0"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zh-TW" sz="1800" dirty="0">
                          <a:effectLst/>
                          <a:latin typeface="+mn-lt"/>
                        </a:rPr>
                        <a:t>3.3</a:t>
                      </a:r>
                      <a:r>
                        <a:rPr lang="zh-TW" altLang="en-US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en-PH" altLang="zh-TW" sz="1800" dirty="0">
                          <a:effectLst/>
                          <a:latin typeface="+mn-lt"/>
                        </a:rPr>
                        <a:t>Change launcher direction</a:t>
                      </a:r>
                    </a:p>
                    <a:p>
                      <a:pPr marL="457200" lvl="1" indent="0"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zh-TW" sz="1800" dirty="0">
                          <a:effectLst/>
                          <a:latin typeface="+mn-lt"/>
                        </a:rPr>
                        <a:t>3.4</a:t>
                      </a:r>
                      <a:r>
                        <a:rPr lang="zh-TW" altLang="en-US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en-PH" altLang="zh-TW" sz="1800" dirty="0">
                          <a:effectLst/>
                          <a:latin typeface="+mn-lt"/>
                        </a:rPr>
                        <a:t>Change</a:t>
                      </a:r>
                      <a:r>
                        <a:rPr lang="en-US" altLang="zh-TW" sz="1800" dirty="0">
                          <a:effectLst/>
                          <a:latin typeface="+mn-lt"/>
                        </a:rPr>
                        <a:t> Boot Animation</a:t>
                      </a: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6280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altLang="zh-TW" sz="1800" dirty="0"/>
              <a:t>Reverted system property:</a:t>
            </a:r>
            <a:endParaRPr lang="zh-TW" altLang="zh-TW" sz="1800" dirty="0"/>
          </a:p>
          <a:p>
            <a:pPr lvl="1"/>
            <a:r>
              <a:rPr lang="en-PH" altLang="zh-TW" sz="1800" dirty="0" err="1"/>
              <a:t>ro.surface_flinger.primary_display_orientation</a:t>
            </a:r>
            <a:r>
              <a:rPr lang="en-PH" altLang="zh-TW" sz="1800" dirty="0"/>
              <a:t> (removed)</a:t>
            </a:r>
            <a:endParaRPr lang="zh-TW" altLang="zh-TW" sz="1800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altLang="zh-TW" sz="2800" dirty="0" smtClean="0"/>
              <a:t>#1 Set </a:t>
            </a:r>
            <a:r>
              <a:rPr lang="en-PH" altLang="zh-TW" sz="2800" dirty="0" err="1"/>
              <a:t>ro.surface_flinger.primary_display_orientation</a:t>
            </a:r>
            <a:r>
              <a:rPr lang="en-PH" altLang="zh-TW" sz="2800" dirty="0"/>
              <a:t>=ORIENTATION_0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717"/>
          <a:stretch/>
        </p:blipFill>
        <p:spPr>
          <a:xfrm>
            <a:off x="955014" y="2643460"/>
            <a:ext cx="10581793" cy="217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64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altLang="zh-TW" sz="1800" dirty="0"/>
              <a:t>Purpose:</a:t>
            </a:r>
          </a:p>
          <a:p>
            <a:pPr lvl="1"/>
            <a:r>
              <a:rPr lang="en-PH" altLang="zh-TW" sz="1800" dirty="0"/>
              <a:t>Sensor HAL: Swap X/Y axes to treat portrait as the natural reference</a:t>
            </a:r>
          </a:p>
          <a:p>
            <a:pPr lvl="1"/>
            <a:r>
              <a:rPr lang="en-PH" altLang="zh-TW" sz="1800" dirty="0"/>
              <a:t>Touch Input: Coordinate remap (X↔Y)</a:t>
            </a:r>
          </a:p>
          <a:p>
            <a:pPr lvl="1"/>
            <a:r>
              <a:rPr lang="en-PH" altLang="zh-TW" sz="1800" dirty="0"/>
              <a:t>Camera HAL: Ensure </a:t>
            </a:r>
            <a:r>
              <a:rPr lang="en-PH" altLang="zh-TW" sz="1800" dirty="0" err="1"/>
              <a:t>sensorOrientation</a:t>
            </a:r>
            <a:r>
              <a:rPr lang="en-PH" altLang="zh-TW" sz="1800" dirty="0"/>
              <a:t> and </a:t>
            </a:r>
            <a:r>
              <a:rPr lang="en-PH" altLang="zh-TW" sz="1800" dirty="0" err="1"/>
              <a:t>displayRotation</a:t>
            </a:r>
            <a:r>
              <a:rPr lang="en-PH" altLang="zh-TW" sz="1800" dirty="0"/>
              <a:t> match the logical portrait mode</a:t>
            </a:r>
          </a:p>
          <a:p>
            <a:pPr lvl="1"/>
            <a:endParaRPr lang="en-PH" altLang="zh-TW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PH" altLang="zh-TW" sz="1800" dirty="0"/>
              <a:t>Result:</a:t>
            </a:r>
          </a:p>
          <a:p>
            <a:pPr lvl="1"/>
            <a:r>
              <a:rPr lang="en-PH" altLang="zh-TW" sz="1800" dirty="0"/>
              <a:t>System and hardware behave consistently as if portrait = ROTATION_0</a:t>
            </a:r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2400" dirty="0" smtClean="0"/>
              <a:t>#2 </a:t>
            </a:r>
            <a:r>
              <a:rPr lang="en-PH" altLang="zh-TW" sz="2400" dirty="0" smtClean="0">
                <a:solidFill>
                  <a:schemeClr val="dk1"/>
                </a:solidFill>
              </a:rPr>
              <a:t>adjust </a:t>
            </a:r>
            <a:r>
              <a:rPr lang="en-PH" altLang="zh-TW" sz="2400" dirty="0">
                <a:solidFill>
                  <a:schemeClr val="dk1"/>
                </a:solidFill>
              </a:rPr>
              <a:t>sensor, touch, and camera XY orientation to align with portrait as the natural orientation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209751" y="6401163"/>
            <a:ext cx="3746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Path: </a:t>
            </a:r>
            <a:r>
              <a:rPr lang="zh-TW" altLang="en-US" dirty="0"/>
              <a:t>/LINUX/android/build/make</a:t>
            </a:r>
          </a:p>
        </p:txBody>
      </p:sp>
    </p:spTree>
    <p:extLst>
      <p:ext uri="{BB962C8B-B14F-4D97-AF65-F5344CB8AC3E}">
        <p14:creationId xmlns:p14="http://schemas.microsoft.com/office/powerpoint/2010/main" val="1278504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altLang="zh-TW" sz="2000" dirty="0"/>
              <a:t>(2-1) Adjusted the following:</a:t>
            </a:r>
          </a:p>
          <a:p>
            <a:pPr lvl="1"/>
            <a:r>
              <a:rPr lang="en-PH" altLang="zh-TW" sz="2000" dirty="0"/>
              <a:t>Sensor HAL: Swap X/Y axes to treat portrait as the natural </a:t>
            </a:r>
            <a:r>
              <a:rPr lang="en-PH" altLang="zh-TW" sz="2000" dirty="0" smtClean="0"/>
              <a:t>reference</a:t>
            </a:r>
            <a:endParaRPr lang="en-PH" altLang="zh-TW" sz="2000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2400" dirty="0" smtClean="0"/>
              <a:t>#2 </a:t>
            </a:r>
            <a:r>
              <a:rPr lang="en-PH" altLang="zh-TW" sz="2400" dirty="0" smtClean="0">
                <a:solidFill>
                  <a:schemeClr val="dk1"/>
                </a:solidFill>
              </a:rPr>
              <a:t>adjust </a:t>
            </a:r>
            <a:r>
              <a:rPr lang="en-PH" altLang="zh-TW" sz="2400" dirty="0">
                <a:solidFill>
                  <a:schemeClr val="dk1"/>
                </a:solidFill>
              </a:rPr>
              <a:t>sensor, touch, and camera XY orientation to align with portrait as the natural orientation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936" y="2657428"/>
            <a:ext cx="6165115" cy="344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36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altLang="zh-TW" sz="2000" dirty="0"/>
              <a:t>(2-2) Adjusted the following:</a:t>
            </a:r>
          </a:p>
          <a:p>
            <a:pPr lvl="1"/>
            <a:r>
              <a:rPr lang="en-PH" altLang="zh-TW" sz="2000" dirty="0"/>
              <a:t>Touch Input: Coordinate remap (X↔Y)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2400" dirty="0" smtClean="0"/>
              <a:t>#2 </a:t>
            </a:r>
            <a:r>
              <a:rPr lang="en-PH" altLang="zh-TW" sz="2400" dirty="0" smtClean="0">
                <a:solidFill>
                  <a:schemeClr val="dk1"/>
                </a:solidFill>
              </a:rPr>
              <a:t>adjust </a:t>
            </a:r>
            <a:r>
              <a:rPr lang="en-PH" altLang="zh-TW" sz="2400" dirty="0">
                <a:solidFill>
                  <a:schemeClr val="dk1"/>
                </a:solidFill>
              </a:rPr>
              <a:t>sensor, touch, and camera XY orientation to align with portrait as the natural orientation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90578" y="2764419"/>
            <a:ext cx="8345278" cy="2919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4224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altLang="zh-TW" sz="2000" dirty="0"/>
              <a:t>(2-3) Adjusted the following:</a:t>
            </a:r>
          </a:p>
          <a:p>
            <a:pPr lvl="1"/>
            <a:r>
              <a:rPr lang="en-PH" altLang="zh-TW" sz="2000" dirty="0"/>
              <a:t>Camera HAL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2400" dirty="0" smtClean="0"/>
              <a:t>#2 </a:t>
            </a:r>
            <a:r>
              <a:rPr lang="en-PH" altLang="zh-TW" sz="2400" dirty="0" smtClean="0">
                <a:solidFill>
                  <a:schemeClr val="dk1"/>
                </a:solidFill>
              </a:rPr>
              <a:t>adjust </a:t>
            </a:r>
            <a:r>
              <a:rPr lang="en-PH" altLang="zh-TW" sz="2400" dirty="0">
                <a:solidFill>
                  <a:schemeClr val="dk1"/>
                </a:solidFill>
              </a:rPr>
              <a:t>sensor, touch, and camera XY orientation to align with portrait as the natural orientation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011" r="47239"/>
          <a:stretch/>
        </p:blipFill>
        <p:spPr>
          <a:xfrm>
            <a:off x="1339185" y="2814574"/>
            <a:ext cx="6198357" cy="239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48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/>
              <a:t>3.1</a:t>
            </a:r>
            <a:r>
              <a:rPr lang="zh-TW" altLang="en-US" sz="2000" dirty="0"/>
              <a:t> </a:t>
            </a:r>
            <a:r>
              <a:rPr lang="en-PH" altLang="zh-TW" sz="2000" dirty="0"/>
              <a:t>Change window Manager Service</a:t>
            </a:r>
          </a:p>
          <a:p>
            <a:pPr lvl="1"/>
            <a:r>
              <a:rPr lang="en-PH" altLang="zh-TW" sz="2000" b="1" dirty="0"/>
              <a:t>A. RotationPolicy.java</a:t>
            </a:r>
            <a:endParaRPr lang="en-PH" altLang="zh-TW" sz="3200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altLang="zh-TW" sz="2400" dirty="0" smtClean="0"/>
              <a:t>#3 Add </a:t>
            </a:r>
            <a:r>
              <a:rPr lang="en-PH" altLang="zh-TW" sz="2400" dirty="0"/>
              <a:t>+90° </a:t>
            </a:r>
            <a:r>
              <a:rPr lang="en-PH" altLang="zh-TW" sz="2400" dirty="0" smtClean="0"/>
              <a:t>offset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0317" y="2754036"/>
            <a:ext cx="9891469" cy="312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23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half" idx="2"/>
          </p:nvPr>
        </p:nvSpPr>
        <p:spPr>
          <a:xfrm>
            <a:off x="582707" y="1355723"/>
            <a:ext cx="10874187" cy="362378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/>
              <a:t>3.1</a:t>
            </a:r>
            <a:r>
              <a:rPr lang="zh-TW" altLang="en-US" sz="2000" dirty="0"/>
              <a:t> </a:t>
            </a:r>
            <a:r>
              <a:rPr lang="en-PH" altLang="zh-TW" sz="2000" dirty="0"/>
              <a:t>Change window Manager Service</a:t>
            </a:r>
          </a:p>
          <a:p>
            <a:pPr lvl="1"/>
            <a:r>
              <a:rPr lang="en-PH" altLang="zh-TW" sz="2000" b="1" dirty="0"/>
              <a:t>B. </a:t>
            </a:r>
            <a:r>
              <a:rPr lang="en-PH" altLang="zh-TW" sz="2000" b="1" dirty="0" err="1"/>
              <a:t>SettingsProvider</a:t>
            </a:r>
            <a:r>
              <a:rPr lang="en-PH" altLang="zh-TW" sz="2000" b="1" dirty="0"/>
              <a:t> defaults.xml</a:t>
            </a:r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altLang="zh-TW" sz="2400" dirty="0"/>
              <a:t>3. Add +90° offset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7527" y="2593635"/>
            <a:ext cx="10319280" cy="227341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69863" y="2197398"/>
            <a:ext cx="67573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Path: /QCM6490_apps_qssi15/LINUX/android/frameworks/base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844826" y="5317435"/>
            <a:ext cx="1166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Result: 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446" y="5430787"/>
            <a:ext cx="9734135" cy="51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59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3.1</a:t>
            </a:r>
            <a:r>
              <a:rPr lang="zh-TW" altLang="en-US" sz="2000" dirty="0" smtClean="0"/>
              <a:t> </a:t>
            </a:r>
            <a:r>
              <a:rPr lang="en-PH" altLang="zh-TW" sz="2000" dirty="0" smtClean="0"/>
              <a:t>Change window Manager Service</a:t>
            </a:r>
          </a:p>
          <a:p>
            <a:pPr lvl="1"/>
            <a:r>
              <a:rPr lang="en-PH" altLang="zh-TW" sz="2000" b="1" dirty="0" smtClean="0"/>
              <a:t>C. DisplayRotation.java</a:t>
            </a:r>
            <a:endParaRPr lang="en-PH" altLang="zh-TW" sz="3200" dirty="0" smtClean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altLang="zh-TW" sz="2400" dirty="0"/>
              <a:t>3. Add +90° offset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982" y="1548416"/>
            <a:ext cx="6874631" cy="399484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982" y="5188337"/>
            <a:ext cx="6874630" cy="119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44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altLang="zh-TW" sz="2000" dirty="0"/>
              <a:t>3.2 Change setup wizard direction</a:t>
            </a:r>
          </a:p>
          <a:p>
            <a:pPr lvl="1"/>
            <a:r>
              <a:rPr lang="en-PH" altLang="zh-TW" sz="1800" dirty="0"/>
              <a:t>Default launcher orientation: </a:t>
            </a:r>
            <a:r>
              <a:rPr lang="en-PH" altLang="zh-TW" sz="1800" b="1" dirty="0" smtClean="0"/>
              <a:t>Landscape</a:t>
            </a:r>
            <a:endParaRPr lang="zh-TW" altLang="zh-TW" sz="1800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altLang="zh-TW" sz="2400" dirty="0"/>
              <a:t>3. Add +90° offset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037" y="2487667"/>
            <a:ext cx="6496384" cy="23369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03229" y="4986365"/>
            <a:ext cx="70827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Path: /QCM6490_apps_qssi15/LINUX/android/vendor/</a:t>
            </a:r>
            <a:r>
              <a:rPr lang="en-US" altLang="zh-TW" dirty="0" err="1"/>
              <a:t>partner_gms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7829297" y="5606534"/>
            <a:ext cx="4067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000000"/>
                </a:solidFill>
                <a:latin typeface="Trebuchet MS"/>
              </a:rPr>
              <a:t>ro.setupwizard.rotation_locked=false</a:t>
            </a:r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13390" y="3772705"/>
            <a:ext cx="3298951" cy="1833829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12642" y="1347404"/>
            <a:ext cx="3228300" cy="1843203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7586002" y="3190607"/>
            <a:ext cx="4007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000000"/>
                </a:solidFill>
                <a:latin typeface="Trebuchet MS"/>
              </a:rPr>
              <a:t>ro.setupwizard.rotation_locked=</a:t>
            </a:r>
            <a:r>
              <a:rPr lang="en-US" altLang="zh-TW" dirty="0">
                <a:solidFill>
                  <a:srgbClr val="000000"/>
                </a:solidFill>
                <a:latin typeface="Trebuchet MS"/>
              </a:rPr>
              <a:t>true</a:t>
            </a:r>
            <a:endParaRPr lang="zh-TW" altLang="en-US" dirty="0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7" name="弧形箭號 (左彎) 16"/>
          <p:cNvSpPr/>
          <p:nvPr/>
        </p:nvSpPr>
        <p:spPr>
          <a:xfrm rot="20272533">
            <a:off x="11099361" y="2616320"/>
            <a:ext cx="926592" cy="1517904"/>
          </a:xfrm>
          <a:prstGeom prst="curvedLeftArrow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870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PH" altLang="zh-TW" sz="2000" dirty="0"/>
              <a:t>3.3 Change launcher direction</a:t>
            </a:r>
          </a:p>
          <a:p>
            <a:pPr lvl="1"/>
            <a:r>
              <a:rPr lang="en-PH" altLang="zh-TW" sz="1800" dirty="0"/>
              <a:t>Default launcher orientation: </a:t>
            </a:r>
            <a:r>
              <a:rPr lang="en-PH" altLang="zh-TW" sz="1800" b="1" dirty="0" smtClean="0"/>
              <a:t>Landscape</a:t>
            </a:r>
            <a:endParaRPr lang="zh-TW" altLang="zh-TW" sz="1800" dirty="0"/>
          </a:p>
          <a:p>
            <a:pPr lvl="1"/>
            <a:r>
              <a:rPr lang="en-PH" altLang="zh-TW" sz="1800" dirty="0"/>
              <a:t>Behavior:</a:t>
            </a:r>
            <a:endParaRPr lang="zh-TW" altLang="zh-TW" sz="1800" dirty="0"/>
          </a:p>
          <a:p>
            <a:pPr lvl="2"/>
            <a:r>
              <a:rPr lang="en-PH" altLang="zh-TW" sz="1400" b="1" dirty="0"/>
              <a:t>Home rotation </a:t>
            </a:r>
            <a:r>
              <a:rPr lang="en-PH" altLang="zh-TW" sz="1400" b="1" dirty="0" smtClean="0"/>
              <a:t>OFF</a:t>
            </a:r>
            <a:r>
              <a:rPr lang="en-PH" altLang="zh-TW" sz="1400" dirty="0" smtClean="0"/>
              <a:t>: Always landscape</a:t>
            </a:r>
            <a:endParaRPr lang="zh-TW" altLang="zh-TW" sz="1400" dirty="0"/>
          </a:p>
          <a:p>
            <a:pPr lvl="2"/>
            <a:r>
              <a:rPr lang="en-PH" altLang="zh-TW" sz="1400" b="1" dirty="0"/>
              <a:t>Home rotation </a:t>
            </a:r>
            <a:r>
              <a:rPr lang="en-PH" altLang="zh-TW" sz="1400" b="1" dirty="0" smtClean="0"/>
              <a:t>ON</a:t>
            </a:r>
            <a:r>
              <a:rPr lang="en-PH" altLang="zh-TW" sz="1400" dirty="0"/>
              <a:t>:</a:t>
            </a:r>
            <a:r>
              <a:rPr lang="en-PH" altLang="zh-TW" sz="1400" dirty="0" smtClean="0"/>
              <a:t> </a:t>
            </a:r>
            <a:r>
              <a:rPr lang="en-PH" altLang="zh-TW" sz="1400" dirty="0"/>
              <a:t>Follows </a:t>
            </a:r>
            <a:r>
              <a:rPr lang="en-PH" altLang="zh-TW" sz="1400" dirty="0" smtClean="0"/>
              <a:t>sensor</a:t>
            </a:r>
            <a:endParaRPr lang="zh-TW" altLang="zh-TW" sz="1400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altLang="zh-TW" sz="2400" dirty="0"/>
              <a:t>3. Add +90° offset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1651" y="3700527"/>
            <a:ext cx="8084928" cy="270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128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TW" sz="2000" dirty="0"/>
              <a:t>3.4</a:t>
            </a:r>
            <a:r>
              <a:rPr lang="zh-TW" altLang="en-US" sz="2000" dirty="0"/>
              <a:t> </a:t>
            </a:r>
            <a:r>
              <a:rPr lang="en-US" altLang="zh-TW" sz="2000" dirty="0"/>
              <a:t>Change Boot Animation</a:t>
            </a:r>
          </a:p>
          <a:p>
            <a:pPr lvl="1"/>
            <a:r>
              <a:rPr lang="en-US" altLang="zh-TW" sz="1800" dirty="0"/>
              <a:t>Ensures smooth user experience on screen rotation </a:t>
            </a:r>
            <a:r>
              <a:rPr lang="en-US" altLang="zh-TW" sz="1800" dirty="0" smtClean="0"/>
              <a:t>events</a:t>
            </a:r>
            <a:endParaRPr lang="en-US" altLang="zh-TW" sz="1800" dirty="0"/>
          </a:p>
          <a:p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altLang="zh-TW" sz="2400" dirty="0"/>
              <a:t>3. Add +90° offset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999" y="2411631"/>
            <a:ext cx="6147853" cy="3693334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08914" y="2411631"/>
            <a:ext cx="4462272" cy="23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997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altLang="zh-TW" sz="2400" dirty="0" smtClean="0"/>
              <a:t>#3 Validation Checklist – (v20251107)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7568228"/>
              </p:ext>
            </p:extLst>
          </p:nvPr>
        </p:nvGraphicFramePr>
        <p:xfrm>
          <a:off x="1217128" y="1331165"/>
          <a:ext cx="9654029" cy="4429162"/>
        </p:xfrm>
        <a:graphic>
          <a:graphicData uri="http://schemas.openxmlformats.org/drawingml/2006/table">
            <a:tbl>
              <a:tblPr firstRow="1" firstCol="1" bandRow="1"/>
              <a:tblGrid>
                <a:gridCol w="1893820">
                  <a:extLst>
                    <a:ext uri="{9D8B030D-6E8A-4147-A177-3AD203B41FA5}">
                      <a16:colId xmlns:a16="http://schemas.microsoft.com/office/drawing/2014/main" val="723423873"/>
                    </a:ext>
                  </a:extLst>
                </a:gridCol>
                <a:gridCol w="2405269">
                  <a:extLst>
                    <a:ext uri="{9D8B030D-6E8A-4147-A177-3AD203B41FA5}">
                      <a16:colId xmlns:a16="http://schemas.microsoft.com/office/drawing/2014/main" val="3801547935"/>
                    </a:ext>
                  </a:extLst>
                </a:gridCol>
                <a:gridCol w="4104861">
                  <a:extLst>
                    <a:ext uri="{9D8B030D-6E8A-4147-A177-3AD203B41FA5}">
                      <a16:colId xmlns:a16="http://schemas.microsoft.com/office/drawing/2014/main" val="3500779285"/>
                    </a:ext>
                  </a:extLst>
                </a:gridCol>
                <a:gridCol w="1250079">
                  <a:extLst>
                    <a:ext uri="{9D8B030D-6E8A-4147-A177-3AD203B41FA5}">
                      <a16:colId xmlns:a16="http://schemas.microsoft.com/office/drawing/2014/main" val="398918863"/>
                    </a:ext>
                  </a:extLst>
                </a:gridCol>
              </a:tblGrid>
              <a:tr h="283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PH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Category</a:t>
                      </a:r>
                      <a:endParaRPr lang="zh-TW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PH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Validation Step</a:t>
                      </a:r>
                      <a:endParaRPr lang="zh-TW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PH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Expected Result</a:t>
                      </a:r>
                      <a:endParaRPr lang="zh-TW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PH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zh-TW" sz="1800" b="1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350" marR="6350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11823"/>
                  </a:ext>
                </a:extLst>
              </a:tr>
              <a:tr h="5216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Boot</a:t>
                      </a:r>
                      <a:endParaRPr lang="zh-TW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Power on </a:t>
                      </a:r>
                      <a:r>
                        <a:rPr lang="en-PH" sz="1600" dirty="0" err="1" smtClean="0">
                          <a:effectLst/>
                          <a:latin typeface="+mn-lt"/>
                        </a:rPr>
                        <a:t>SetupWizard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Default 90° offset portrait behavior shown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PASS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350" marR="635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486419"/>
                  </a:ext>
                </a:extLst>
              </a:tr>
              <a:tr h="28396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Home </a:t>
                      </a:r>
                      <a:r>
                        <a:rPr lang="en-PH" sz="18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Screen</a:t>
                      </a:r>
                      <a:endParaRPr lang="zh-TW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Auto Rotation OFF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>
                          <a:effectLst/>
                          <a:latin typeface="+mn-lt"/>
                        </a:rPr>
                        <a:t>Fixed landscape</a:t>
                      </a:r>
                      <a:endParaRPr lang="zh-TW" sz="160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PASS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350" marR="635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642915"/>
                  </a:ext>
                </a:extLst>
              </a:tr>
              <a:tr h="283960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endParaRPr lang="zh-TW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altLang="zh-TW" sz="1600" dirty="0">
                          <a:effectLst/>
                          <a:latin typeface="+mn-lt"/>
                        </a:rPr>
                        <a:t>Auto </a:t>
                      </a:r>
                      <a:r>
                        <a:rPr lang="en-PH" sz="1600" dirty="0">
                          <a:effectLst/>
                          <a:latin typeface="+mn-lt"/>
                        </a:rPr>
                        <a:t>Rotation ON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Follows sensor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PASS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350" marR="635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439285"/>
                  </a:ext>
                </a:extLst>
              </a:tr>
              <a:tr h="2839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Touch Input</a:t>
                      </a:r>
                      <a:endParaRPr lang="zh-TW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function test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 smtClean="0">
                          <a:effectLst/>
                          <a:latin typeface="+mn-lt"/>
                        </a:rPr>
                        <a:t>Matches </a:t>
                      </a:r>
                      <a:r>
                        <a:rPr lang="en-PH" sz="1600" dirty="0">
                          <a:effectLst/>
                          <a:latin typeface="+mn-lt"/>
                        </a:rPr>
                        <a:t>point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PASS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350" marR="635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81455"/>
                  </a:ext>
                </a:extLst>
              </a:tr>
              <a:tr h="132758">
                <a:tc rowSpan="6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Camera</a:t>
                      </a:r>
                      <a:endParaRPr lang="zh-TW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zh-TW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altLang="zh-TW" sz="1600" dirty="0">
                          <a:effectLst/>
                          <a:latin typeface="+mn-lt"/>
                        </a:rPr>
                        <a:t>Auto Rotation OFF</a:t>
                      </a:r>
                      <a:endParaRPr lang="zh-TW" alt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  <a:latin typeface="+mn-lt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UI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PASS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350" marR="635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178132"/>
                  </a:ext>
                </a:extLst>
              </a:tr>
              <a:tr h="144612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dirty="0">
                        <a:solidFill>
                          <a:schemeClr val="tx1"/>
                        </a:solidFill>
                        <a:effectLst/>
                        <a:latin typeface="Liberation Serif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altLang="zh-TW" sz="1800" dirty="0">
                        <a:effectLst/>
                        <a:latin typeface="Liberation Serif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  <a:latin typeface="+mn-lt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Streaming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altLang="zh-TW" sz="1600" dirty="0">
                          <a:effectLst/>
                          <a:latin typeface="+mn-lt"/>
                        </a:rPr>
                        <a:t>PASS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350" marR="635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1631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dirty="0">
                        <a:solidFill>
                          <a:schemeClr val="tx1"/>
                        </a:solidFill>
                        <a:effectLst/>
                        <a:latin typeface="Liberation Serif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altLang="zh-TW" sz="1800" dirty="0">
                        <a:effectLst/>
                        <a:latin typeface="Liberation Serif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  <a:latin typeface="+mn-lt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Still Image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altLang="zh-TW" sz="1600" dirty="0">
                          <a:effectLst/>
                          <a:latin typeface="+mn-lt"/>
                        </a:rPr>
                        <a:t>PASS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350" marR="635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5954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dirty="0">
                        <a:solidFill>
                          <a:schemeClr val="tx1"/>
                        </a:solidFill>
                        <a:effectLst/>
                        <a:latin typeface="Liberation Serif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/>
                </a:tc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altLang="zh-TW" sz="1600" dirty="0">
                          <a:effectLst/>
                          <a:latin typeface="+mn-lt"/>
                        </a:rPr>
                        <a:t>Auto Rotation ON</a:t>
                      </a:r>
                      <a:endParaRPr lang="zh-TW" alt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  <a:latin typeface="+mn-lt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UI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FAIL</a:t>
                      </a:r>
                      <a:endParaRPr lang="zh-TW" sz="1600" dirty="0">
                        <a:solidFill>
                          <a:srgbClr val="FF0000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350" marR="635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664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dirty="0">
                        <a:solidFill>
                          <a:schemeClr val="tx1"/>
                        </a:solidFill>
                        <a:effectLst/>
                        <a:latin typeface="Liberation Serif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altLang="zh-TW" sz="1800" dirty="0">
                        <a:effectLst/>
                        <a:latin typeface="Liberation Serif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  <a:latin typeface="+mn-lt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Streaming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altLang="zh-TW" sz="16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FAIL</a:t>
                      </a:r>
                      <a:endParaRPr lang="zh-TW" sz="1600" dirty="0">
                        <a:solidFill>
                          <a:srgbClr val="FF0000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350" marR="635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7568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sz="1800" dirty="0">
                        <a:solidFill>
                          <a:schemeClr val="tx1"/>
                        </a:solidFill>
                        <a:effectLst/>
                        <a:latin typeface="Liberation Serif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zh-TW" altLang="zh-TW" sz="1800" dirty="0">
                        <a:effectLst/>
                        <a:latin typeface="Liberation Serif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600" dirty="0">
                          <a:effectLst/>
                          <a:latin typeface="+mn-lt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Still Image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altLang="zh-TW" sz="16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</a:rPr>
                        <a:t>FAIL</a:t>
                      </a:r>
                      <a:endParaRPr lang="zh-TW" sz="1600" dirty="0">
                        <a:solidFill>
                          <a:srgbClr val="FF0000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350" marR="635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788045"/>
                  </a:ext>
                </a:extLst>
              </a:tr>
              <a:tr h="5216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8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External Display</a:t>
                      </a:r>
                      <a:endParaRPr lang="zh-TW" sz="180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HDMI/Virtual Display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Show original view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PASS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350" marR="635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73357"/>
                  </a:ext>
                </a:extLst>
              </a:tr>
              <a:tr h="5216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Boot </a:t>
                      </a:r>
                      <a:r>
                        <a:rPr lang="en-PH" sz="18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Animation</a:t>
                      </a:r>
                      <a:endParaRPr lang="zh-TW" sz="1800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App rotation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Default 90° offset portrait behavior shown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17780" marR="17780" marT="17780" marB="1778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  <a:ea typeface="微軟正黑體"/>
                        </a:defRPr>
                      </a:lvl9pPr>
                    </a:lstStyle>
                    <a:p>
                      <a:pPr>
                        <a:spcAft>
                          <a:spcPts val="0"/>
                        </a:spcAft>
                      </a:pPr>
                      <a:r>
                        <a:rPr lang="en-PH" sz="1600" dirty="0">
                          <a:effectLst/>
                          <a:latin typeface="+mn-lt"/>
                        </a:rPr>
                        <a:t>PASS</a:t>
                      </a:r>
                      <a:endParaRPr lang="zh-TW" sz="1600" dirty="0">
                        <a:effectLst/>
                        <a:latin typeface="+mn-lt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350" marR="6350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E0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770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012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altLang="zh-TW" sz="2400" dirty="0" smtClean="0"/>
              <a:t>#3 </a:t>
            </a:r>
            <a:r>
              <a:rPr lang="en-PH" altLang="zh-TW" sz="2400" dirty="0"/>
              <a:t>Validation </a:t>
            </a:r>
            <a:r>
              <a:rPr lang="en-PH" altLang="zh-TW" sz="2400" dirty="0" smtClean="0"/>
              <a:t>Checklist – </a:t>
            </a:r>
            <a:r>
              <a:rPr lang="en-PH" altLang="zh-TW" sz="2400" dirty="0"/>
              <a:t>(v20251107)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41304" y="1350415"/>
            <a:ext cx="3686261" cy="4960950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670749" y="1539259"/>
            <a:ext cx="7379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Camera UI, Streaming and Still image abnormal when Auto Rotation is 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53100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altLang="zh-TW" sz="2400" dirty="0" smtClean="0"/>
              <a:t>#3 Validation Checklist – (v20251112)</a:t>
            </a:r>
            <a:endParaRPr lang="zh-TW" altLang="en-US" dirty="0"/>
          </a:p>
        </p:txBody>
      </p:sp>
      <p:graphicFrame>
        <p:nvGraphicFramePr>
          <p:cNvPr id="4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50295"/>
              </p:ext>
            </p:extLst>
          </p:nvPr>
        </p:nvGraphicFramePr>
        <p:xfrm>
          <a:off x="2461247" y="1108559"/>
          <a:ext cx="7343775" cy="5062537"/>
        </p:xfrm>
        <a:graphic>
          <a:graphicData uri="http://schemas.openxmlformats.org/drawingml/2006/table">
            <a:tbl>
              <a:tblPr/>
              <a:tblGrid>
                <a:gridCol w="3662934">
                  <a:extLst>
                    <a:ext uri="{9D8B030D-6E8A-4147-A177-3AD203B41FA5}">
                      <a16:colId xmlns:a16="http://schemas.microsoft.com/office/drawing/2014/main" val="2574805864"/>
                    </a:ext>
                  </a:extLst>
                </a:gridCol>
                <a:gridCol w="1615060">
                  <a:extLst>
                    <a:ext uri="{9D8B030D-6E8A-4147-A177-3AD203B41FA5}">
                      <a16:colId xmlns:a16="http://schemas.microsoft.com/office/drawing/2014/main" val="1906075606"/>
                    </a:ext>
                  </a:extLst>
                </a:gridCol>
                <a:gridCol w="845984">
                  <a:extLst>
                    <a:ext uri="{9D8B030D-6E8A-4147-A177-3AD203B41FA5}">
                      <a16:colId xmlns:a16="http://schemas.microsoft.com/office/drawing/2014/main" val="695041232"/>
                    </a:ext>
                  </a:extLst>
                </a:gridCol>
                <a:gridCol w="1219797">
                  <a:extLst>
                    <a:ext uri="{9D8B030D-6E8A-4147-A177-3AD203B41FA5}">
                      <a16:colId xmlns:a16="http://schemas.microsoft.com/office/drawing/2014/main" val="1791888976"/>
                    </a:ext>
                  </a:extLst>
                </a:gridCol>
              </a:tblGrid>
              <a:tr h="182646"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34" charset="-120"/>
                        <a:ea typeface="Malgun Gothic Semilight" panose="020B0502040204020203" pitchFamily="34" charset="-120"/>
                      </a:endParaRPr>
                    </a:p>
                  </a:txBody>
                  <a:tcPr marL="2747" marR="2747" marT="27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34" charset="-120"/>
                        <a:ea typeface="Malgun Gothic Semilight" panose="020B0502040204020203" pitchFamily="34" charset="-120"/>
                      </a:endParaRPr>
                    </a:p>
                  </a:txBody>
                  <a:tcPr marL="2747" marR="2747" marT="274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202511120447_thorpe_dev_arcore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406307"/>
                  </a:ext>
                </a:extLst>
              </a:tr>
              <a:tr h="18264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Test Case</a:t>
                      </a:r>
                    </a:p>
                  </a:txBody>
                  <a:tcPr marL="2747" marR="2747" marT="27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Description</a:t>
                      </a:r>
                    </a:p>
                  </a:txBody>
                  <a:tcPr marL="2747" marR="2747" marT="274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Result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Comment 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857706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Boot Animation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939457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Setup Wizard orientation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Power on SetupWizard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06100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Home Screen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345035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Home Screen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424724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Touch Input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function test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128984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Display autorotation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559894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ARCORE app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7297617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stream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821099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still image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1251504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UI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665066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video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42482"/>
                  </a:ext>
                </a:extLst>
              </a:tr>
              <a:tr h="199612">
                <a:tc>
                  <a:txBody>
                    <a:bodyPr/>
                    <a:lstStyle/>
                    <a:p>
                      <a:pPr algn="l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video mode UI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496281"/>
                  </a:ext>
                </a:extLst>
              </a:tr>
              <a:tr h="14695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stream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Fixed it in Landscape UI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4872893"/>
                  </a:ext>
                </a:extLst>
              </a:tr>
              <a:tr h="1410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still image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Rotatable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6051300"/>
                  </a:ext>
                </a:extLst>
              </a:tr>
              <a:tr h="1440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UI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Fixed it in Landscape UI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9486368"/>
                  </a:ext>
                </a:extLst>
              </a:tr>
              <a:tr h="1440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video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Fixed it in Landscape UI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833595"/>
                  </a:ext>
                </a:extLst>
              </a:tr>
              <a:tr h="144018">
                <a:tc>
                  <a:txBody>
                    <a:bodyPr/>
                    <a:lstStyle/>
                    <a:p>
                      <a:pPr algn="l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video mode UI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Fixed it in Landscape UI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442339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stream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548721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still image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379768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UI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054719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video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464100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video mode UI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211990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stream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299392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still image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335383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UI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924411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video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566157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video mode UI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8960804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Display Port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232452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Youtube player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878110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External Display(Vysor)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Virtual Display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168872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Screenshot Orientation (Recent button)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Fail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897395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THRPI-203 : Display Will rotate 90 degrees in the photo editing screen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Fail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portrait view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112451"/>
                  </a:ext>
                </a:extLst>
              </a:tr>
              <a:tr h="139909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THRPI-210: QR Reader App (built-in) is rotated to Portrait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Fail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portrait view</a:t>
                      </a:r>
                    </a:p>
                  </a:txBody>
                  <a:tcPr marL="2747" marR="2747" marT="27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3089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509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>
          <a:xfrm>
            <a:off x="580355" y="366183"/>
            <a:ext cx="10985328" cy="448924"/>
          </a:xfrm>
        </p:spPr>
        <p:txBody>
          <a:bodyPr/>
          <a:lstStyle/>
          <a:p>
            <a:r>
              <a:rPr lang="en-PH" altLang="zh-TW" sz="2400" dirty="0" smtClean="0"/>
              <a:t>#3 Validation Checklist – </a:t>
            </a:r>
            <a:r>
              <a:rPr lang="en-PH" altLang="zh-TW" sz="2400" dirty="0" smtClean="0"/>
              <a:t/>
            </a:r>
            <a:br>
              <a:rPr lang="en-PH" altLang="zh-TW" sz="2400" dirty="0" smtClean="0"/>
            </a:br>
            <a:r>
              <a:rPr lang="en-PH" altLang="zh-TW" sz="2400" dirty="0" smtClean="0"/>
              <a:t>(v202511</a:t>
            </a:r>
            <a:r>
              <a:rPr lang="en-US" altLang="zh-TW" sz="2400" dirty="0" smtClean="0"/>
              <a:t>27</a:t>
            </a:r>
            <a:r>
              <a:rPr lang="en-PH" altLang="zh-TW" sz="2400" dirty="0" smtClean="0"/>
              <a:t>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662557"/>
              </p:ext>
            </p:extLst>
          </p:nvPr>
        </p:nvGraphicFramePr>
        <p:xfrm>
          <a:off x="4235117" y="-134754"/>
          <a:ext cx="7813750" cy="6464453"/>
        </p:xfrm>
        <a:graphic>
          <a:graphicData uri="http://schemas.openxmlformats.org/drawingml/2006/table">
            <a:tbl>
              <a:tblPr/>
              <a:tblGrid>
                <a:gridCol w="3804870">
                  <a:extLst>
                    <a:ext uri="{9D8B030D-6E8A-4147-A177-3AD203B41FA5}">
                      <a16:colId xmlns:a16="http://schemas.microsoft.com/office/drawing/2014/main" val="1724039062"/>
                    </a:ext>
                  </a:extLst>
                </a:gridCol>
                <a:gridCol w="1713721">
                  <a:extLst>
                    <a:ext uri="{9D8B030D-6E8A-4147-A177-3AD203B41FA5}">
                      <a16:colId xmlns:a16="http://schemas.microsoft.com/office/drawing/2014/main" val="606409566"/>
                    </a:ext>
                  </a:extLst>
                </a:gridCol>
                <a:gridCol w="622244">
                  <a:extLst>
                    <a:ext uri="{9D8B030D-6E8A-4147-A177-3AD203B41FA5}">
                      <a16:colId xmlns:a16="http://schemas.microsoft.com/office/drawing/2014/main" val="2975846555"/>
                    </a:ext>
                  </a:extLst>
                </a:gridCol>
                <a:gridCol w="1672915">
                  <a:extLst>
                    <a:ext uri="{9D8B030D-6E8A-4147-A177-3AD203B41FA5}">
                      <a16:colId xmlns:a16="http://schemas.microsoft.com/office/drawing/2014/main" val="1811733635"/>
                    </a:ext>
                  </a:extLst>
                </a:gridCol>
              </a:tblGrid>
              <a:tr h="284884"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34" charset="-120"/>
                        <a:ea typeface="Malgun Gothic Semilight" panose="020B0502040204020203" pitchFamily="34" charset="-120"/>
                      </a:endParaRPr>
                    </a:p>
                  </a:txBody>
                  <a:tcPr marL="2958" marR="2958" marT="29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5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34" charset="-120"/>
                        <a:ea typeface="Malgun Gothic Semilight" panose="020B0502040204020203" pitchFamily="34" charset="-120"/>
                      </a:endParaRPr>
                    </a:p>
                  </a:txBody>
                  <a:tcPr marL="2958" marR="2958" marT="29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202511270355_thorpe_dev_arcore</a:t>
                      </a:r>
                    </a:p>
                  </a:txBody>
                  <a:tcPr marL="2958" marR="2958" marT="295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048679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Test Case</a:t>
                      </a:r>
                    </a:p>
                  </a:txBody>
                  <a:tcPr marL="2958" marR="2958" marT="29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Description</a:t>
                      </a:r>
                    </a:p>
                  </a:txBody>
                  <a:tcPr marL="2958" marR="2958" marT="29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Result</a:t>
                      </a:r>
                    </a:p>
                  </a:txBody>
                  <a:tcPr marL="2958" marR="2958" marT="2958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Comment 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363423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Boot Animation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327064"/>
                  </a:ext>
                </a:extLst>
              </a:tr>
              <a:tr h="18562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Setup Wizard orientation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Power on SetupWizard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601729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Home Screen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801062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Home Screen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68369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Touch Input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function test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83137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Display autorotation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87974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ARCORE app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216452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stream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047156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still image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751315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UI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60795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video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870566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it-IT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video mode UI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096545"/>
                  </a:ext>
                </a:extLst>
              </a:tr>
              <a:tr h="2354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stream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70C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Fixed it in Landscape UI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600020"/>
                  </a:ext>
                </a:extLst>
              </a:tr>
              <a:tr h="20685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still image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70C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Rotatable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751133"/>
                  </a:ext>
                </a:extLst>
              </a:tr>
              <a:tr h="2354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UI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70C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Fixed it in Landscape UI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043929"/>
                  </a:ext>
                </a:extLst>
              </a:tr>
              <a:tr h="2354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video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70C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Fixed it in Landscape UI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886333"/>
                  </a:ext>
                </a:extLst>
              </a:tr>
              <a:tr h="235443">
                <a:tc>
                  <a:txBody>
                    <a:bodyPr/>
                    <a:lstStyle/>
                    <a:p>
                      <a:pPr algn="l" fontAlgn="ctr"/>
                      <a:r>
                        <a:rPr lang="it-IT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Snapdragon camera app video mode UI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70C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Fixed it in Landscape UI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4434558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stream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590829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still image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131309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UI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692889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video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4317239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video mode UI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OFF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6891589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stream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4451449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still image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294666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UI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8959892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video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547142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third-party camera app video mode UI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Auto Rotation ON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142040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Display Port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298777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Youtube player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960892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External Display(Vysor)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Virtual Display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461356"/>
                  </a:ext>
                </a:extLst>
              </a:tr>
              <a:tr h="1548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Screenshot Orientation (Recent button)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548406"/>
                  </a:ext>
                </a:extLst>
              </a:tr>
              <a:tr h="30690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THRPI-203 : Display Will rotate 90 degrees in the photo editing screen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70C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portrait view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282874"/>
                  </a:ext>
                </a:extLst>
              </a:tr>
              <a:tr h="284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THRPI-210: QR Reader App (built-in) is rotated to Portrait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　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Pass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0" i="0" u="none" strike="noStrike" dirty="0">
                          <a:solidFill>
                            <a:srgbClr val="0070C0"/>
                          </a:solidFill>
                          <a:effectLst/>
                          <a:latin typeface="Malgun Gothic Semilight" panose="020B0502040204020203" pitchFamily="34" charset="-120"/>
                          <a:ea typeface="Malgun Gothic Semilight" panose="020B0502040204020203" pitchFamily="34" charset="-120"/>
                        </a:rPr>
                        <a:t>portrait view</a:t>
                      </a:r>
                    </a:p>
                  </a:txBody>
                  <a:tcPr marL="2958" marR="2958" marT="295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8330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045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TW" sz="2000" dirty="0"/>
              <a:t>Solve Camera </a:t>
            </a:r>
            <a:r>
              <a:rPr lang="en-US" altLang="zh-TW" sz="2000" dirty="0" smtClean="0"/>
              <a:t>bug – Closed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sz="2000" dirty="0" smtClean="0"/>
              <a:t>Solve Recent snapshot bug - </a:t>
            </a:r>
            <a:r>
              <a:rPr lang="en-US" altLang="zh-TW" sz="2000" dirty="0"/>
              <a:t>Closed</a:t>
            </a:r>
            <a:endParaRPr lang="en-US" altLang="zh-TW" sz="2000" dirty="0"/>
          </a:p>
        </p:txBody>
      </p:sp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2400" dirty="0"/>
              <a:t>Next Step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2498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718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INDEX" val="20187308"/>
  <p:tag name="KSO_WM_TEMPLATE_CATEGORY" val="custo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MODEL_TYPE" val="cover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PEGATRON template blue 2023">
  <a:themeElements>
    <a:clrScheme name="PEGATRON Company Profile">
      <a:dk1>
        <a:sysClr val="windowText" lastClr="000000"/>
      </a:dk1>
      <a:lt1>
        <a:srgbClr val="FFFFFF"/>
      </a:lt1>
      <a:dk2>
        <a:srgbClr val="303030"/>
      </a:dk2>
      <a:lt2>
        <a:srgbClr val="5F5B5B"/>
      </a:lt2>
      <a:accent1>
        <a:srgbClr val="E8E8E8"/>
      </a:accent1>
      <a:accent2>
        <a:srgbClr val="A69060"/>
      </a:accent2>
      <a:accent3>
        <a:srgbClr val="C1AB7A"/>
      </a:accent3>
      <a:accent4>
        <a:srgbClr val="00ABC2"/>
      </a:accent4>
      <a:accent5>
        <a:srgbClr val="1295D8"/>
      </a:accent5>
      <a:accent6>
        <a:srgbClr val="303030"/>
      </a:accent6>
      <a:hlink>
        <a:srgbClr val="5F5B5B"/>
      </a:hlink>
      <a:folHlink>
        <a:srgbClr val="E8E8E8"/>
      </a:folHlink>
    </a:clrScheme>
    <a:fontScheme name="PEGATRON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4F149338ADB5F4190ABA8E1993F899F" ma:contentTypeVersion="0" ma:contentTypeDescription="建立新的文件。" ma:contentTypeScope="" ma:versionID="cb3b5fbdf78a00da268dbde93d42430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9ca1165369cbf929f3384faf68dff5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89631E-8D2B-4D27-96A3-62B15EA5CEA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B60768B-6DDD-429D-95C4-02D777B7D9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6FC2BE2-8BB0-4ADE-8033-9E88BF689D7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1383</Words>
  <Application>Microsoft Office PowerPoint</Application>
  <PresentationFormat>寬螢幕</PresentationFormat>
  <Paragraphs>530</Paragraphs>
  <Slides>21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1" baseType="lpstr">
      <vt:lpstr>Malgun Gothic Semilight</vt:lpstr>
      <vt:lpstr>微软雅黑</vt:lpstr>
      <vt:lpstr>微軟正黑體</vt:lpstr>
      <vt:lpstr>新細明體</vt:lpstr>
      <vt:lpstr>Arial</vt:lpstr>
      <vt:lpstr>Calibri</vt:lpstr>
      <vt:lpstr>Calibri Light</vt:lpstr>
      <vt:lpstr>Trebuchet MS</vt:lpstr>
      <vt:lpstr>Wingdings</vt:lpstr>
      <vt:lpstr>PEGATRON template blue 2023</vt:lpstr>
      <vt:lpstr>Thorpe</vt:lpstr>
      <vt:lpstr>Background</vt:lpstr>
      <vt:lpstr>Mainline: Original Baseline</vt:lpstr>
      <vt:lpstr>PowerPoint 簡報</vt:lpstr>
      <vt:lpstr>#1 Set ro.surface_flinger.primary_display_orientation=ORIENTATION_0</vt:lpstr>
      <vt:lpstr>#2 adjust sensor, touch, and camera XY orientation to align with portrait as the natural orientation</vt:lpstr>
      <vt:lpstr>#2 adjust sensor, touch, and camera XY orientation to align with portrait as the natural orientation</vt:lpstr>
      <vt:lpstr>#2 adjust sensor, touch, and camera XY orientation to align with portrait as the natural orientation</vt:lpstr>
      <vt:lpstr>#2 adjust sensor, touch, and camera XY orientation to align with portrait as the natural orientation</vt:lpstr>
      <vt:lpstr>#3 Add +90° offset </vt:lpstr>
      <vt:lpstr>3. Add +90° offset </vt:lpstr>
      <vt:lpstr>3. Add +90° offset </vt:lpstr>
      <vt:lpstr>3. Add +90° offset </vt:lpstr>
      <vt:lpstr>3. Add +90° offset </vt:lpstr>
      <vt:lpstr>3. Add +90° offset </vt:lpstr>
      <vt:lpstr>#3 Validation Checklist – (v20251107)</vt:lpstr>
      <vt:lpstr>#3 Validation Checklist – (v20251107)</vt:lpstr>
      <vt:lpstr>#3 Validation Checklist – (v20251112)</vt:lpstr>
      <vt:lpstr>#3 Validation Checklist –  (v20251127)</vt:lpstr>
      <vt:lpstr>Next Step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PEGATRON template 2023 blue</dc:title>
  <dc:creator>MID-ID: PEGADESIGN</dc:creator>
  <cp:lastModifiedBy>James8 Chen(陳麒元_Pegatron)</cp:lastModifiedBy>
  <cp:revision>391</cp:revision>
  <dcterms:created xsi:type="dcterms:W3CDTF">2018-07-25T09:21:00Z</dcterms:created>
  <dcterms:modified xsi:type="dcterms:W3CDTF">2025-12-03T03:59:26Z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1028-11.8.2.8372</vt:lpwstr>
  </property>
  <property fmtid="{D5CDD505-2E9C-101B-9397-08002B2CF9AE}" pid="3" name="ContentTypeId">
    <vt:lpwstr>0x010100D4F149338ADB5F4190ABA8E1993F899F</vt:lpwstr>
  </property>
</Properties>
</file>